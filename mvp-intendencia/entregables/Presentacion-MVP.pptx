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Presentar el producto como implementación académica nueva. Las pantallas son capturas reales del navegador. No se usaron datos corporativos ni se modificó el ERP.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entrega se agrega únicamente bajo mvp-intendencia/ en daniel-gonzalez. La estética se toma como referencia; no se cambia ni se integra el Angular o el Django existente del equipo.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PDF describe consumos menores sin registro, insumos guardados sin identificación y diferencias entre stock físico y registrado. Esta entrega implementa el ciclo básico; todavía no mide mejoras en la empresa.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Etapa 10 del documento define HU-01 a HU-06 como Versión 1 y deja HU-07/HU-08 para una versión futura. Se persisten movimientos sin construir todavía el historial avanzado.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Flask sirve las vistas y aplica la autorización. SQLite almacena usuarios, insumos, cambios de umbral y movimientos. Cantidades en milésimas enteras; BEGIN IMMEDIATE serializa validación y descuento. No se usa almacenamiento de navegador como base de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las dos cuentas ficticias documentadas. No presentar las cuentas demo como usuarios corporativos. La autorización del servidor devuelve 403 al Operario que solicita el alta.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el video se crea LIM-003, Desengrasante industrial, Limpieza, litro, Puerta 3. La entrada formal cargará las existencias.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demostración cambia mínimo 3/máximo 25 a 4/30. Para unidad se admiten enteros; para litros y kg, tres decimales. No se bloquea una recepción por superar el máximo.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Como Operario registrar una entrada de 10 litros. La referencia es opcional. Se guarda cantidad y responsable en SQLite.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Buscar desengrasante, filtrar Limpieza y Puerta 3. Explicar que la aplicación refresca en cada consulta y al confirmar movimientos propios; no implementa actualización push entre dispositivos.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el error real. Las pruebas también ejecutan dos retiros simultáneos de 20 litros frente a 24 disponibles; solo uno puede completarse.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Corregir la cantidad a 2,5 litros y confirmar. La verificación independiente en SQLite comprueba una entrada de 10000 milésimas y una salida de 2500 milésimas, ambas del Operario.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Estos resultados pertenecen a esta sesión de implementación, no a la instancia académica anterior. Las pruebas automatizadas no equivalen a aceptación de la organización. Los archivos de salida acompañan la entrega.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entrega incluye código, instrucciones, presentación editable y PDF, video y evidencias. El MVP funciona localmente con datos ficticios. Faltan validación por usuarios de la empresa y preparación productiva. No afirmar publicación o despliegue.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9400"/>
            <a:ext cx="96520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00" b="1">
                <a:solidFill>
                  <a:srgbClr val="FFE5DE"/>
                </a:solidFill>
                <a:latin typeface="DejaVu Sans"/>
              </a:defRPr>
            </a:pPr>
            <a:r>
              <a:t>EASYSTOCK / VERSIÓN 1.0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38900"/>
            <a:ext cx="11277600" cy="127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0500"/>
            <a:ext cx="101600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80"/>
              </a:lnSpc>
              <a:spcAft>
                <a:spcPts val="0"/>
              </a:spcAft>
              <a:defRPr sz="800" b="0">
                <a:solidFill>
                  <a:srgbClr val="AAAAAA"/>
                </a:solidFill>
                <a:latin typeface="DejaVu Sans"/>
              </a:defRPr>
            </a:pPr>
            <a:r>
              <a:t>FULLSTACKERS · INTENDENCIA · MVP ACADÉMICO · DATOS FICTICIOS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40500"/>
            <a:ext cx="355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80"/>
              </a:lnSpc>
              <a:spcAft>
                <a:spcPts val="0"/>
              </a:spcAft>
              <a:defRPr sz="800" b="0">
                <a:solidFill>
                  <a:srgbClr val="AAAAAA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57300"/>
            <a:ext cx="4699000" cy="1358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950"/>
              </a:lnSpc>
              <a:spcAft>
                <a:spcPts val="0"/>
              </a:spcAft>
              <a:defRPr sz="4500" b="1">
                <a:solidFill>
                  <a:srgbClr val="FFFFFF"/>
                </a:solidFill>
                <a:latin typeface="DejaVu Sans"/>
              </a:defRPr>
            </a:pPr>
            <a:r>
              <a:t>El pañol,</a:t>
            </a:r>
          </a:p>
          <a:p>
            <a:pPr>
              <a:lnSpc>
                <a:spcPts val="4950"/>
              </a:lnSpc>
              <a:spcAft>
                <a:spcPts val="0"/>
              </a:spcAft>
              <a:defRPr sz="4500" b="1">
                <a:solidFill>
                  <a:srgbClr val="FFFFFF"/>
                </a:solidFill>
                <a:latin typeface="DejaVu Sans"/>
              </a:defRPr>
            </a:pPr>
            <a:r>
              <a:t>en orden.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" y="2946400"/>
            <a:ext cx="4381500" cy="7188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Aft>
                <a:spcPts val="0"/>
              </a:spcAft>
              <a:defRPr sz="1800" b="0">
                <a:solidFill>
                  <a:srgbClr val="CCCCCC"/>
                </a:solidFill>
                <a:latin typeface="DejaVu Sans"/>
              </a:defRPr>
            </a:pPr>
            <a:r>
              <a:t>EasyStock · Sistema de control de</a:t>
            </a:r>
          </a:p>
          <a:p>
            <a:pPr>
              <a:lnSpc>
                <a:spcPts val="2430"/>
              </a:lnSpc>
              <a:spcAft>
                <a:spcPts val="0"/>
              </a:spcAft>
              <a:defRPr sz="1800" b="0">
                <a:solidFill>
                  <a:srgbClr val="CCCCCC"/>
                </a:solidFill>
                <a:latin typeface="DejaVu Sans"/>
              </a:defRPr>
            </a:pPr>
            <a:r>
              <a:t>insumos de Intendencia.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2600" y="4229100"/>
            <a:ext cx="3378200" cy="444500"/>
          </a:xfrm>
          <a:prstGeom prst="roundRect">
            <a:avLst>
              <a:gd name="adj" fmla="val 8000"/>
            </a:avLst>
          </a:prstGeom>
          <a:solidFill>
            <a:srgbClr val="FF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400" y="4318000"/>
            <a:ext cx="31115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00" b="1">
                <a:solidFill>
                  <a:srgbClr val="212121"/>
                </a:solidFill>
                <a:latin typeface="DejaVu Sans"/>
              </a:defRPr>
            </a:pPr>
            <a:r>
              <a:t>MVP FUNCIONAL · HU-01 A HU-06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600" y="4978400"/>
            <a:ext cx="3810000" cy="513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BBBBBB"/>
                </a:solidFill>
                <a:latin typeface="DejaVu Sans"/>
              </a:defRPr>
            </a:pPr>
            <a:r>
              <a:t>Catálogo, ubicaciones y movimientos en una</a:t>
            </a:r>
          </a:p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BBBBBB"/>
                </a:solidFill>
                <a:latin typeface="DejaVu Sans"/>
              </a:defRPr>
            </a:pPr>
            <a:r>
              <a:t>aplicación web.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68900" y="1270000"/>
            <a:ext cx="6604000" cy="4609394"/>
          </a:xfrm>
          <a:prstGeom prst="roundRect">
            <a:avLst>
              <a:gd name="adj" fmla="val 8000"/>
            </a:avLst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2-inventar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7000" y="1308100"/>
            <a:ext cx="6527800" cy="453319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9400"/>
            <a:ext cx="96520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00" b="1">
                <a:solidFill>
                  <a:srgbClr val="E72D07"/>
                </a:solidFill>
                <a:latin typeface="DejaVu Sans"/>
              </a:defRPr>
            </a:pPr>
            <a:r>
              <a:t>EASYSTOCK / REFERENCIA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62000"/>
            <a:ext cx="11303000" cy="5988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5"/>
              </a:lnSpc>
              <a:spcAft>
                <a:spcPts val="0"/>
              </a:spcAft>
              <a:defRPr sz="2900" b="1">
                <a:solidFill>
                  <a:srgbClr val="212121"/>
                </a:solidFill>
                <a:latin typeface="DejaVu Sans"/>
              </a:defRPr>
            </a:pPr>
            <a:r>
              <a:t>La identidad de EasyStock, aplicada al pañol.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38900"/>
            <a:ext cx="112776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40500"/>
            <a:ext cx="101600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80"/>
              </a:lnSpc>
              <a:spcAft>
                <a:spcPts val="0"/>
              </a:spcAft>
              <a:defRPr sz="800" b="0">
                <a:solidFill>
                  <a:srgbClr val="777777"/>
                </a:solidFill>
                <a:latin typeface="DejaVu Sans"/>
              </a:defRPr>
            </a:pPr>
            <a:r>
              <a:t>FULLSTACKERS · INTENDENCIA · MVP ACADÉMICO · DATOS FICTICIOS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40500"/>
            <a:ext cx="355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80"/>
              </a:lnSpc>
              <a:spcAft>
                <a:spcPts val="0"/>
              </a:spcAft>
              <a:defRPr sz="800" b="0">
                <a:solidFill>
                  <a:srgbClr val="777777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89100"/>
            <a:ext cx="3302000" cy="10274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Aft>
                <a:spcPts val="0"/>
              </a:spcAft>
              <a:defRPr sz="1800" b="1">
                <a:solidFill>
                  <a:srgbClr val="212121"/>
                </a:solidFill>
                <a:latin typeface="DejaVu Sans"/>
              </a:defRPr>
            </a:pPr>
            <a:r>
              <a:t>MVP independiente con</a:t>
            </a:r>
          </a:p>
          <a:p>
            <a:pPr>
              <a:lnSpc>
                <a:spcPts val="2430"/>
              </a:lnSpc>
              <a:spcAft>
                <a:spcPts val="0"/>
              </a:spcAft>
              <a:defRPr sz="1800" b="1">
                <a:solidFill>
                  <a:srgbClr val="212121"/>
                </a:solidFill>
                <a:latin typeface="DejaVu Sans"/>
              </a:defRPr>
            </a:pPr>
            <a:r>
              <a:t>la estética de la página</a:t>
            </a:r>
          </a:p>
          <a:p>
            <a:pPr>
              <a:lnSpc>
                <a:spcPts val="2430"/>
              </a:lnSpc>
              <a:spcAft>
                <a:spcPts val="0"/>
              </a:spcAft>
              <a:defRPr sz="1800" b="1">
                <a:solidFill>
                  <a:srgbClr val="212121"/>
                </a:solidFill>
                <a:latin typeface="DejaVu Sans"/>
              </a:defRPr>
            </a:pPr>
            <a:r>
              <a:t>del equipo.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97200"/>
            <a:ext cx="63500" cy="63500"/>
          </a:xfrm>
          <a:prstGeom prst="rect">
            <a:avLst/>
          </a:prstGeom>
          <a:solidFill>
            <a:srgbClr val="E72D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700" y="2895600"/>
            <a:ext cx="3022600" cy="513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777777"/>
                </a:solidFill>
                <a:latin typeface="DejaVu Sans"/>
              </a:defRPr>
            </a:pPr>
            <a:r>
              <a:t>Logo y recursos visuales de</a:t>
            </a:r>
          </a:p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777777"/>
                </a:solidFill>
                <a:latin typeface="DejaVu Sans"/>
              </a:defRPr>
            </a:pPr>
            <a:r>
              <a:t>FullStackers.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10000"/>
            <a:ext cx="63500" cy="63500"/>
          </a:xfrm>
          <a:prstGeom prst="rect">
            <a:avLst/>
          </a:prstGeom>
          <a:solidFill>
            <a:srgbClr val="E72D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700" y="3708400"/>
            <a:ext cx="3022600" cy="513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777777"/>
                </a:solidFill>
                <a:latin typeface="DejaVu Sans"/>
              </a:defRPr>
            </a:pPr>
            <a:r>
              <a:t>Rojo, gris oscuro y el acceso de</a:t>
            </a:r>
          </a:p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777777"/>
                </a:solidFill>
                <a:latin typeface="DejaVu Sans"/>
              </a:defRPr>
            </a:pPr>
            <a:r>
              <a:t>EasyStock.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622800"/>
            <a:ext cx="63500" cy="63500"/>
          </a:xfrm>
          <a:prstGeom prst="rect">
            <a:avLst/>
          </a:prstGeom>
          <a:solidFill>
            <a:srgbClr val="E72D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700" y="4521200"/>
            <a:ext cx="3022600" cy="513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777777"/>
                </a:solidFill>
                <a:latin typeface="DejaVu Sans"/>
              </a:defRPr>
            </a:pPr>
            <a:r>
              <a:t>Archivos del equipo conservados sin</a:t>
            </a:r>
          </a:p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777777"/>
                </a:solidFill>
                <a:latin typeface="DejaVu Sans"/>
              </a:defRPr>
            </a:pPr>
            <a:r>
              <a:t>cambios.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02100" y="1397000"/>
            <a:ext cx="7117080" cy="4965700"/>
          </a:xfrm>
          <a:prstGeom prst="roundRect">
            <a:avLst>
              <a:gd name="adj" fmla="val 8000"/>
            </a:avLst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0-inic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200" y="1435100"/>
            <a:ext cx="7040880" cy="4889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9400"/>
            <a:ext cx="96520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00" b="1">
                <a:solidFill>
                  <a:srgbClr val="E72D07"/>
                </a:solidFill>
                <a:latin typeface="DejaVu Sans"/>
              </a:defRPr>
            </a:pPr>
            <a:r>
              <a:t>EASYSTOCK / 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62000"/>
            <a:ext cx="11303000" cy="5988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5"/>
              </a:lnSpc>
              <a:spcAft>
                <a:spcPts val="0"/>
              </a:spcAft>
              <a:defRPr sz="2900" b="1">
                <a:solidFill>
                  <a:srgbClr val="212121"/>
                </a:solidFill>
                <a:latin typeface="DejaVu Sans"/>
              </a:defRPr>
            </a:pPr>
            <a:r>
              <a:t>Del retiro informal al registro compartido.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38900"/>
            <a:ext cx="112776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40500"/>
            <a:ext cx="101600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80"/>
              </a:lnSpc>
              <a:spcAft>
                <a:spcPts val="0"/>
              </a:spcAft>
              <a:defRPr sz="800" b="0">
                <a:solidFill>
                  <a:srgbClr val="777777"/>
                </a:solidFill>
                <a:latin typeface="DejaVu Sans"/>
              </a:defRPr>
            </a:pPr>
            <a:r>
              <a:t>FULLSTACKERS · INTENDENCIA · MVP ACADÉMICO · DATOS FICTICIOS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40500"/>
            <a:ext cx="355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80"/>
              </a:lnSpc>
              <a:spcAft>
                <a:spcPts val="0"/>
              </a:spcAft>
              <a:defRPr sz="800" b="0">
                <a:solidFill>
                  <a:srgbClr val="777777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43100"/>
            <a:ext cx="3606800" cy="3289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300" y="2222500"/>
            <a:ext cx="2794000" cy="6673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455"/>
              </a:lnSpc>
              <a:spcAft>
                <a:spcPts val="0"/>
              </a:spcAft>
              <a:defRPr sz="3300" b="0">
                <a:solidFill>
                  <a:srgbClr val="E72D07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300" y="2997200"/>
            <a:ext cx="3022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35"/>
              </a:lnSpc>
              <a:spcAft>
                <a:spcPts val="0"/>
              </a:spcAft>
              <a:defRPr sz="2100" b="1">
                <a:solidFill>
                  <a:srgbClr val="212121"/>
                </a:solidFill>
                <a:latin typeface="DejaVu Sans"/>
              </a:defRPr>
            </a:pPr>
            <a:r>
              <a:t>Registrar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300" y="3619500"/>
            <a:ext cx="2984500" cy="8216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Aft>
                <a:spcPts val="0"/>
              </a:spcAft>
              <a:defRPr sz="1400" b="0">
                <a:solidFill>
                  <a:srgbClr val="777777"/>
                </a:solidFill>
                <a:latin typeface="DejaVu Sans"/>
              </a:defRPr>
            </a:pPr>
            <a:r>
              <a:t>Cada ingreso y cada consumo</a:t>
            </a:r>
          </a:p>
          <a:p>
            <a:pPr>
              <a:lnSpc>
                <a:spcPts val="1890"/>
              </a:lnSpc>
              <a:spcAft>
                <a:spcPts val="0"/>
              </a:spcAft>
              <a:defRPr sz="1400" b="0">
                <a:solidFill>
                  <a:srgbClr val="777777"/>
                </a:solidFill>
                <a:latin typeface="DejaVu Sans"/>
              </a:defRPr>
            </a:pPr>
            <a:r>
              <a:t>dejan un registro con usuario,</a:t>
            </a:r>
          </a:p>
          <a:p>
            <a:pPr>
              <a:lnSpc>
                <a:spcPts val="1890"/>
              </a:lnSpc>
              <a:spcAft>
                <a:spcPts val="0"/>
              </a:spcAft>
              <a:defRPr sz="1400" b="0">
                <a:solidFill>
                  <a:srgbClr val="777777"/>
                </a:solidFill>
                <a:latin typeface="DejaVu Sans"/>
              </a:defRPr>
            </a:pPr>
            <a:r>
              <a:t>cantidad y fecha.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2600" y="1943100"/>
            <a:ext cx="3606800" cy="3289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4700" y="2222500"/>
            <a:ext cx="2794000" cy="6673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455"/>
              </a:lnSpc>
              <a:spcAft>
                <a:spcPts val="0"/>
              </a:spcAft>
              <a:defRPr sz="3300" b="0">
                <a:solidFill>
                  <a:srgbClr val="E72D07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4700" y="2997200"/>
            <a:ext cx="3022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35"/>
              </a:lnSpc>
              <a:spcAft>
                <a:spcPts val="0"/>
              </a:spcAft>
              <a:defRPr sz="2100" b="1">
                <a:solidFill>
                  <a:srgbClr val="212121"/>
                </a:solidFill>
                <a:latin typeface="DejaVu Sans"/>
              </a:defRPr>
            </a:pPr>
            <a:r>
              <a:t>Encontrar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4700" y="3619500"/>
            <a:ext cx="2984500" cy="1061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Aft>
                <a:spcPts val="0"/>
              </a:spcAft>
              <a:defRPr sz="1400" b="0">
                <a:solidFill>
                  <a:srgbClr val="777777"/>
                </a:solidFill>
                <a:latin typeface="DejaVu Sans"/>
              </a:defRPr>
            </a:pPr>
            <a:r>
              <a:t>La búsqueda reúne</a:t>
            </a:r>
          </a:p>
          <a:p>
            <a:pPr>
              <a:lnSpc>
                <a:spcPts val="1890"/>
              </a:lnSpc>
              <a:spcAft>
                <a:spcPts val="0"/>
              </a:spcAft>
              <a:defRPr sz="1400" b="0">
                <a:solidFill>
                  <a:srgbClr val="777777"/>
                </a:solidFill>
                <a:latin typeface="DejaVu Sans"/>
              </a:defRPr>
            </a:pPr>
            <a:r>
              <a:t>disponibilidad, categoría y</a:t>
            </a:r>
          </a:p>
          <a:p>
            <a:pPr>
              <a:lnSpc>
                <a:spcPts val="1890"/>
              </a:lnSpc>
              <a:spcAft>
                <a:spcPts val="0"/>
              </a:spcAft>
              <a:defRPr sz="1400" b="0">
                <a:solidFill>
                  <a:srgbClr val="777777"/>
                </a:solidFill>
                <a:latin typeface="DejaVu Sans"/>
              </a:defRPr>
            </a:pPr>
            <a:r>
              <a:t>ubicación física en una sola</a:t>
            </a:r>
          </a:p>
          <a:p>
            <a:pPr>
              <a:lnSpc>
                <a:spcPts val="1890"/>
              </a:lnSpc>
              <a:spcAft>
                <a:spcPts val="0"/>
              </a:spcAft>
              <a:defRPr sz="1400" b="0">
                <a:solidFill>
                  <a:srgbClr val="777777"/>
                </a:solidFill>
                <a:latin typeface="DejaVu Sans"/>
              </a:defRPr>
            </a:pPr>
            <a:r>
              <a:t>vista.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8000" y="1943100"/>
            <a:ext cx="3606800" cy="3289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20100" y="2222500"/>
            <a:ext cx="2794000" cy="6673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455"/>
              </a:lnSpc>
              <a:spcAft>
                <a:spcPts val="0"/>
              </a:spcAft>
              <a:defRPr sz="3300" b="0">
                <a:solidFill>
                  <a:srgbClr val="E72D07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20100" y="2997200"/>
            <a:ext cx="3022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35"/>
              </a:lnSpc>
              <a:spcAft>
                <a:spcPts val="0"/>
              </a:spcAft>
              <a:defRPr sz="2100" b="1">
                <a:solidFill>
                  <a:srgbClr val="212121"/>
                </a:solidFill>
                <a:latin typeface="DejaVu Sans"/>
              </a:defRPr>
            </a:pPr>
            <a:r>
              <a:t>Confiar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0100" y="3619500"/>
            <a:ext cx="2984500" cy="8216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Aft>
                <a:spcPts val="0"/>
              </a:spcAft>
              <a:defRPr sz="1400" b="0">
                <a:solidFill>
                  <a:srgbClr val="777777"/>
                </a:solidFill>
                <a:latin typeface="DejaVu Sans"/>
              </a:defRPr>
            </a:pPr>
            <a:r>
              <a:t>Las salidas se validan contra el</a:t>
            </a:r>
          </a:p>
          <a:p>
            <a:pPr>
              <a:lnSpc>
                <a:spcPts val="1890"/>
              </a:lnSpc>
              <a:spcAft>
                <a:spcPts val="0"/>
              </a:spcAft>
              <a:defRPr sz="1400" b="0">
                <a:solidFill>
                  <a:srgbClr val="777777"/>
                </a:solidFill>
                <a:latin typeface="DejaVu Sans"/>
              </a:defRPr>
            </a:pPr>
            <a:r>
              <a:t>saldo y se confirman con una</a:t>
            </a:r>
          </a:p>
          <a:p>
            <a:pPr>
              <a:lnSpc>
                <a:spcPts val="1890"/>
              </a:lnSpc>
              <a:spcAft>
                <a:spcPts val="0"/>
              </a:spcAft>
              <a:defRPr sz="1400" b="0">
                <a:solidFill>
                  <a:srgbClr val="777777"/>
                </a:solidFill>
                <a:latin typeface="DejaVu Sans"/>
              </a:defRPr>
            </a:pPr>
            <a:r>
              <a:t>transacción atómica.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626100"/>
            <a:ext cx="110490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777777"/>
                </a:solidFill>
                <a:latin typeface="DejaVu Sans"/>
              </a:defRPr>
            </a:pPr>
            <a:r>
              <a:t>Objetivo: apoyar el control interno. La mejora operativa requiere validación con usuarios reales.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9400"/>
            <a:ext cx="96520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00" b="1">
                <a:solidFill>
                  <a:srgbClr val="E72D07"/>
                </a:solidFill>
                <a:latin typeface="DejaVu Sans"/>
              </a:defRPr>
            </a:pPr>
            <a:r>
              <a:t>EASYSTOCK / ALCANCE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62000"/>
            <a:ext cx="11303000" cy="5988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5"/>
              </a:lnSpc>
              <a:spcAft>
                <a:spcPts val="0"/>
              </a:spcAft>
              <a:defRPr sz="2900" b="1">
                <a:solidFill>
                  <a:srgbClr val="212121"/>
                </a:solidFill>
                <a:latin typeface="DejaVu Sans"/>
              </a:defRPr>
            </a:pPr>
            <a:r>
              <a:t>Seis historias, un ciclo completo de inventario.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38900"/>
            <a:ext cx="112776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40500"/>
            <a:ext cx="101600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80"/>
              </a:lnSpc>
              <a:spcAft>
                <a:spcPts val="0"/>
              </a:spcAft>
              <a:defRPr sz="800" b="0">
                <a:solidFill>
                  <a:srgbClr val="777777"/>
                </a:solidFill>
                <a:latin typeface="DejaVu Sans"/>
              </a:defRPr>
            </a:pPr>
            <a:r>
              <a:t>FULLSTACKERS · INTENDENCIA · MVP ACADÉMICO · DATOS FICTICIOS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40500"/>
            <a:ext cx="355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80"/>
              </a:lnSpc>
              <a:spcAft>
                <a:spcPts val="0"/>
              </a:spcAft>
              <a:defRPr sz="800" b="0">
                <a:solidFill>
                  <a:srgbClr val="777777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14500"/>
            <a:ext cx="3606800" cy="1714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05000"/>
            <a:ext cx="31242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00" b="1">
                <a:solidFill>
                  <a:srgbClr val="E72D07"/>
                </a:solidFill>
                <a:latin typeface="DejaVu Sans"/>
              </a:defRPr>
            </a:pPr>
            <a:r>
              <a:t>HU-01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73300"/>
            <a:ext cx="3149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95"/>
              </a:lnSpc>
              <a:spcAft>
                <a:spcPts val="0"/>
              </a:spcAft>
              <a:defRPr sz="1700" b="1">
                <a:solidFill>
                  <a:srgbClr val="212121"/>
                </a:solidFill>
                <a:latin typeface="DejaVu Sans"/>
              </a:defRPr>
            </a:pPr>
            <a:r>
              <a:t>Acceso por 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55900"/>
            <a:ext cx="3149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777777"/>
                </a:solidFill>
                <a:latin typeface="DejaVu Sans"/>
              </a:defRPr>
            </a:pPr>
            <a:r>
              <a:t>Administrador y Operario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2600" y="1714500"/>
            <a:ext cx="3606800" cy="1714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1200" y="1905000"/>
            <a:ext cx="31242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00" b="1">
                <a:solidFill>
                  <a:srgbClr val="E72D07"/>
                </a:solidFill>
                <a:latin typeface="DejaVu Sans"/>
              </a:defRPr>
            </a:pPr>
            <a:r>
              <a:t>HU-02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1200" y="2273300"/>
            <a:ext cx="3149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95"/>
              </a:lnSpc>
              <a:spcAft>
                <a:spcPts val="0"/>
              </a:spcAft>
              <a:defRPr sz="1700" b="1">
                <a:solidFill>
                  <a:srgbClr val="212121"/>
                </a:solidFill>
                <a:latin typeface="DejaVu Sans"/>
              </a:defRPr>
            </a:pPr>
            <a:r>
              <a:t>Alta de insumos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1200" y="2755900"/>
            <a:ext cx="3149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777777"/>
                </a:solidFill>
                <a:latin typeface="DejaVu Sans"/>
              </a:defRPr>
            </a:pPr>
            <a:r>
              <a:t>Código único y ubicación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8000" y="1714500"/>
            <a:ext cx="3606800" cy="1714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6600" y="1905000"/>
            <a:ext cx="31242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00" b="1">
                <a:solidFill>
                  <a:srgbClr val="E72D07"/>
                </a:solidFill>
                <a:latin typeface="DejaVu Sans"/>
              </a:defRPr>
            </a:pPr>
            <a:r>
              <a:t>HU-03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6600" y="2273300"/>
            <a:ext cx="3149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95"/>
              </a:lnSpc>
              <a:spcAft>
                <a:spcPts val="0"/>
              </a:spcAft>
              <a:defRPr sz="1700" b="1">
                <a:solidFill>
                  <a:srgbClr val="212121"/>
                </a:solidFill>
                <a:latin typeface="DejaVu Sans"/>
              </a:defRPr>
            </a:pPr>
            <a:r>
              <a:t>Mínimos y máximos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6600" y="2755900"/>
            <a:ext cx="3149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777777"/>
                </a:solidFill>
                <a:latin typeface="DejaVu Sans"/>
              </a:defRPr>
            </a:pPr>
            <a:r>
              <a:t>Configuración autorizada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683000"/>
            <a:ext cx="3606800" cy="1714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873500"/>
            <a:ext cx="31242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00" b="1">
                <a:solidFill>
                  <a:srgbClr val="E72D07"/>
                </a:solidFill>
                <a:latin typeface="DejaVu Sans"/>
              </a:defRPr>
            </a:pPr>
            <a:r>
              <a:t>HU-04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241800"/>
            <a:ext cx="3149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95"/>
              </a:lnSpc>
              <a:spcAft>
                <a:spcPts val="0"/>
              </a:spcAft>
              <a:defRPr sz="1700" b="1">
                <a:solidFill>
                  <a:srgbClr val="212121"/>
                </a:solidFill>
                <a:latin typeface="DejaVu Sans"/>
              </a:defRPr>
            </a:pPr>
            <a:r>
              <a:t>Consulta de stock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724400"/>
            <a:ext cx="3149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777777"/>
                </a:solidFill>
                <a:latin typeface="DejaVu Sans"/>
              </a:defRPr>
            </a:pPr>
            <a:r>
              <a:t>Búsqueda y filtros combinados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2600" y="3683000"/>
            <a:ext cx="3606800" cy="1714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1200" y="3873500"/>
            <a:ext cx="31242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00" b="1">
                <a:solidFill>
                  <a:srgbClr val="E72D07"/>
                </a:solidFill>
                <a:latin typeface="DejaVu Sans"/>
              </a:defRPr>
            </a:pPr>
            <a:r>
              <a:t>HU-05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1200" y="4241800"/>
            <a:ext cx="3149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95"/>
              </a:lnSpc>
              <a:spcAft>
                <a:spcPts val="0"/>
              </a:spcAft>
              <a:defRPr sz="1700" b="1">
                <a:solidFill>
                  <a:srgbClr val="212121"/>
                </a:solidFill>
                <a:latin typeface="DejaVu Sans"/>
              </a:defRPr>
            </a:pPr>
            <a:r>
              <a:t>Consumo interno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1200" y="4724400"/>
            <a:ext cx="3149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777777"/>
                </a:solidFill>
                <a:latin typeface="DejaVu Sans"/>
              </a:defRPr>
            </a:pPr>
            <a:r>
              <a:t>Salida con sector y validación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28000" y="3683000"/>
            <a:ext cx="3606800" cy="1714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56600" y="3873500"/>
            <a:ext cx="31242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00" b="1">
                <a:solidFill>
                  <a:srgbClr val="E72D07"/>
                </a:solidFill>
                <a:latin typeface="DejaVu Sans"/>
              </a:defRPr>
            </a:pPr>
            <a:r>
              <a:t>HU-06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6600" y="4241800"/>
            <a:ext cx="3149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95"/>
              </a:lnSpc>
              <a:spcAft>
                <a:spcPts val="0"/>
              </a:spcAft>
              <a:defRPr sz="1700" b="1">
                <a:solidFill>
                  <a:srgbClr val="212121"/>
                </a:solidFill>
                <a:latin typeface="DejaVu Sans"/>
              </a:defRPr>
            </a:pPr>
            <a:r>
              <a:t>Recepción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6600" y="4724400"/>
            <a:ext cx="3149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777777"/>
                </a:solidFill>
                <a:latin typeface="DejaVu Sans"/>
              </a:defRPr>
            </a:pPr>
            <a:r>
              <a:t>Entrada con referencia opcional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880100"/>
            <a:ext cx="111760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777777"/>
                </a:solidFill>
                <a:latin typeface="DejaVu Sans"/>
              </a:defRPr>
            </a:pPr>
            <a:r>
              <a:t>Versión 2: alertas visuales HU-07 e historial avanzado HU-08. Sin integración al ERP.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9400"/>
            <a:ext cx="96520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00" b="1">
                <a:solidFill>
                  <a:srgbClr val="E72D07"/>
                </a:solidFill>
                <a:latin typeface="DejaVu Sans"/>
              </a:defRPr>
            </a:pPr>
            <a:r>
              <a:t>EASYSTOCK / DECISIONES TÉCNICAS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62000"/>
            <a:ext cx="11303000" cy="5988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5"/>
              </a:lnSpc>
              <a:spcAft>
                <a:spcPts val="0"/>
              </a:spcAft>
              <a:defRPr sz="2900" b="1">
                <a:solidFill>
                  <a:srgbClr val="212121"/>
                </a:solidFill>
                <a:latin typeface="DejaVu Sans"/>
              </a:defRPr>
            </a:pPr>
            <a:r>
              <a:t>Simple de ejecutar. Con datos persistentes.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38900"/>
            <a:ext cx="112776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40500"/>
            <a:ext cx="101600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80"/>
              </a:lnSpc>
              <a:spcAft>
                <a:spcPts val="0"/>
              </a:spcAft>
              <a:defRPr sz="800" b="0">
                <a:solidFill>
                  <a:srgbClr val="777777"/>
                </a:solidFill>
                <a:latin typeface="DejaVu Sans"/>
              </a:defRPr>
            </a:pPr>
            <a:r>
              <a:t>FULLSTACKERS · INTENDENCIA · MVP ACADÉMICO · DATOS FICTICIOS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40500"/>
            <a:ext cx="355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80"/>
              </a:lnSpc>
              <a:spcAft>
                <a:spcPts val="0"/>
              </a:spcAft>
              <a:defRPr sz="800" b="0">
                <a:solidFill>
                  <a:srgbClr val="777777"/>
                </a:solidFill>
                <a:latin typeface="DejaVu Sans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05000"/>
            <a:ext cx="3352800" cy="1663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1200" y="2146300"/>
            <a:ext cx="28575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1">
                <a:solidFill>
                  <a:srgbClr val="212121"/>
                </a:solidFill>
                <a:latin typeface="DejaVu Sans"/>
              </a:defRPr>
            </a:pPr>
            <a:r>
              <a:t>Navegador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1200" y="2717800"/>
            <a:ext cx="2844800" cy="513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777777"/>
                </a:solidFill>
                <a:latin typeface="DejaVu Sans"/>
              </a:defRPr>
            </a:pPr>
            <a:r>
              <a:t>Interfaz responsive</a:t>
            </a:r>
          </a:p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777777"/>
                </a:solidFill>
                <a:latin typeface="DejaVu Sans"/>
              </a:defRPr>
            </a:pPr>
            <a:r>
              <a:t>Formularios en español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9600" y="1905000"/>
            <a:ext cx="3352800" cy="1663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73600" y="2146300"/>
            <a:ext cx="28575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1">
                <a:solidFill>
                  <a:srgbClr val="212121"/>
                </a:solidFill>
                <a:latin typeface="DejaVu Sans"/>
              </a:defRPr>
            </a:pPr>
            <a:r>
              <a:t>Python + Flask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600" y="2717800"/>
            <a:ext cx="2844800" cy="513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777777"/>
                </a:solidFill>
                <a:latin typeface="DejaVu Sans"/>
              </a:defRPr>
            </a:pPr>
            <a:r>
              <a:t>Sesión y permisos</a:t>
            </a:r>
          </a:p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777777"/>
                </a:solidFill>
                <a:latin typeface="DejaVu Sans"/>
              </a:defRPr>
            </a:pPr>
            <a:r>
              <a:t>Validaciones de negocio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82000" y="1905000"/>
            <a:ext cx="3352800" cy="1663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36000" y="2146300"/>
            <a:ext cx="28575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1">
                <a:solidFill>
                  <a:srgbClr val="212121"/>
                </a:solidFill>
                <a:latin typeface="DejaVu Sans"/>
              </a:defRPr>
            </a:pPr>
            <a:r>
              <a:t>SQLite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36000" y="2717800"/>
            <a:ext cx="2844800" cy="513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777777"/>
                </a:solidFill>
                <a:latin typeface="DejaVu Sans"/>
              </a:defRPr>
            </a:pPr>
            <a:r>
              <a:t>Usuarios e insumos</a:t>
            </a:r>
          </a:p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777777"/>
                </a:solidFill>
                <a:latin typeface="DejaVu Sans"/>
              </a:defRPr>
            </a:pPr>
            <a:r>
              <a:t>Movimientos y umbrales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11600" y="2527300"/>
            <a:ext cx="4064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70"/>
              </a:lnSpc>
              <a:spcAft>
                <a:spcPts val="0"/>
              </a:spcAft>
              <a:defRPr sz="2200" b="0">
                <a:solidFill>
                  <a:srgbClr val="E72D07"/>
                </a:solidFill>
                <a:latin typeface="DejaVu Sans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74000" y="2527300"/>
            <a:ext cx="4064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70"/>
              </a:lnSpc>
              <a:spcAft>
                <a:spcPts val="0"/>
              </a:spcAft>
              <a:defRPr sz="2200" b="0">
                <a:solidFill>
                  <a:srgbClr val="E72D07"/>
                </a:solidFill>
                <a:latin typeface="DejaVu San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038600"/>
            <a:ext cx="11277600" cy="1701800"/>
          </a:xfrm>
          <a:prstGeom prst="roundRect">
            <a:avLst>
              <a:gd name="adj" fmla="val 8000"/>
            </a:avLst>
          </a:prstGeom>
          <a:solidFill>
            <a:srgbClr val="FF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6600" y="4267200"/>
            <a:ext cx="106045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95"/>
              </a:lnSpc>
              <a:spcAft>
                <a:spcPts val="0"/>
              </a:spcAft>
              <a:defRPr sz="1700" b="1">
                <a:solidFill>
                  <a:srgbClr val="212121"/>
                </a:solidFill>
                <a:latin typeface="DejaVu Sans"/>
              </a:defRPr>
            </a:pPr>
            <a:r>
              <a:t>Reglas verificadas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600" y="4749800"/>
            <a:ext cx="10414000" cy="581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Aft>
                <a:spcPts val="0"/>
              </a:spcAft>
              <a:defRPr sz="1400" b="0">
                <a:solidFill>
                  <a:srgbClr val="212121"/>
                </a:solidFill>
                <a:latin typeface="DejaVu Sans"/>
              </a:defRPr>
            </a:pPr>
            <a:r>
              <a:t>Contraseñas con hash scrypt · Permisos en servidor · Protección CSRF</a:t>
            </a:r>
          </a:p>
          <a:p>
            <a:pPr>
              <a:lnSpc>
                <a:spcPts val="1890"/>
              </a:lnSpc>
              <a:spcAft>
                <a:spcPts val="0"/>
              </a:spcAft>
              <a:defRPr sz="1400" b="0">
                <a:solidFill>
                  <a:srgbClr val="212121"/>
                </a:solidFill>
                <a:latin typeface="DejaVu Sans"/>
              </a:defRPr>
            </a:pPr>
            <a:r>
              <a:t>Stock sin redondeo flotante · Descuento atómico · Reenvíos sin duplicación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9400"/>
            <a:ext cx="96520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00" b="1">
                <a:solidFill>
                  <a:srgbClr val="E72D07"/>
                </a:solidFill>
                <a:latin typeface="DejaVu Sans"/>
              </a:defRPr>
            </a:pPr>
            <a:r>
              <a:t>EASYSTOCK / HU-01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62000"/>
            <a:ext cx="11303000" cy="5988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5"/>
              </a:lnSpc>
              <a:spcAft>
                <a:spcPts val="0"/>
              </a:spcAft>
              <a:defRPr sz="2900" b="1">
                <a:solidFill>
                  <a:srgbClr val="212121"/>
                </a:solidFill>
                <a:latin typeface="DejaVu Sans"/>
              </a:defRPr>
            </a:pPr>
            <a:r>
              <a:t>Cada rol tiene su espacio.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38900"/>
            <a:ext cx="112776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40500"/>
            <a:ext cx="101600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80"/>
              </a:lnSpc>
              <a:spcAft>
                <a:spcPts val="0"/>
              </a:spcAft>
              <a:defRPr sz="800" b="0">
                <a:solidFill>
                  <a:srgbClr val="777777"/>
                </a:solidFill>
                <a:latin typeface="DejaVu Sans"/>
              </a:defRPr>
            </a:pPr>
            <a:r>
              <a:t>FULLSTACKERS · INTENDENCIA · MVP ACADÉMICO · DATOS FICTICIOS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40500"/>
            <a:ext cx="355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80"/>
              </a:lnSpc>
              <a:spcAft>
                <a:spcPts val="0"/>
              </a:spcAft>
              <a:defRPr sz="800" b="0">
                <a:solidFill>
                  <a:srgbClr val="777777"/>
                </a:solidFill>
                <a:latin typeface="DejaVu Sans"/>
              </a:defRPr>
            </a:pPr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89100"/>
            <a:ext cx="3302000" cy="10274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Aft>
                <a:spcPts val="0"/>
              </a:spcAft>
              <a:defRPr sz="1800" b="1">
                <a:solidFill>
                  <a:srgbClr val="212121"/>
                </a:solidFill>
                <a:latin typeface="DejaVu Sans"/>
              </a:defRPr>
            </a:pPr>
            <a:r>
              <a:t>La sesión identifica al</a:t>
            </a:r>
          </a:p>
          <a:p>
            <a:pPr>
              <a:lnSpc>
                <a:spcPts val="2430"/>
              </a:lnSpc>
              <a:spcAft>
                <a:spcPts val="0"/>
              </a:spcAft>
              <a:defRPr sz="1800" b="1">
                <a:solidFill>
                  <a:srgbClr val="212121"/>
                </a:solidFill>
                <a:latin typeface="DejaVu Sans"/>
              </a:defRPr>
            </a:pPr>
            <a:r>
              <a:t>responsable de cada</a:t>
            </a:r>
          </a:p>
          <a:p>
            <a:pPr>
              <a:lnSpc>
                <a:spcPts val="2430"/>
              </a:lnSpc>
              <a:spcAft>
                <a:spcPts val="0"/>
              </a:spcAft>
              <a:defRPr sz="1800" b="1">
                <a:solidFill>
                  <a:srgbClr val="212121"/>
                </a:solidFill>
                <a:latin typeface="DejaVu Sans"/>
              </a:defRPr>
            </a:pPr>
            <a:r>
              <a:t>operación.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97200"/>
            <a:ext cx="63500" cy="63500"/>
          </a:xfrm>
          <a:prstGeom prst="rect">
            <a:avLst/>
          </a:prstGeom>
          <a:solidFill>
            <a:srgbClr val="E72D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700" y="2895600"/>
            <a:ext cx="3022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777777"/>
                </a:solidFill>
                <a:latin typeface="DejaVu Sans"/>
              </a:defRPr>
            </a:pPr>
            <a:r>
              <a:t>Administrador: alta y umbrales.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10000"/>
            <a:ext cx="63500" cy="63500"/>
          </a:xfrm>
          <a:prstGeom prst="rect">
            <a:avLst/>
          </a:prstGeom>
          <a:solidFill>
            <a:srgbClr val="E72D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700" y="3708400"/>
            <a:ext cx="3022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777777"/>
                </a:solidFill>
                <a:latin typeface="DejaVu Sans"/>
              </a:defRPr>
            </a:pPr>
            <a:r>
              <a:t>Operario: búsqueda y movimientos.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622800"/>
            <a:ext cx="63500" cy="63500"/>
          </a:xfrm>
          <a:prstGeom prst="rect">
            <a:avLst/>
          </a:prstGeom>
          <a:solidFill>
            <a:srgbClr val="E72D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700" y="4521200"/>
            <a:ext cx="3022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777777"/>
                </a:solidFill>
                <a:latin typeface="DejaVu Sans"/>
              </a:defRPr>
            </a:pPr>
            <a:r>
              <a:t>Las rutas también verifican permisos.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02100" y="1397000"/>
            <a:ext cx="7117080" cy="4965700"/>
          </a:xfrm>
          <a:prstGeom prst="roundRect">
            <a:avLst>
              <a:gd name="adj" fmla="val 8000"/>
            </a:avLst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1-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200" y="1435100"/>
            <a:ext cx="7040880" cy="4889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9400"/>
            <a:ext cx="96520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00" b="1">
                <a:solidFill>
                  <a:srgbClr val="E72D07"/>
                </a:solidFill>
                <a:latin typeface="DejaVu Sans"/>
              </a:defRPr>
            </a:pPr>
            <a:r>
              <a:t>EASYSTOCK / HU-02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62000"/>
            <a:ext cx="11303000" cy="5988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5"/>
              </a:lnSpc>
              <a:spcAft>
                <a:spcPts val="0"/>
              </a:spcAft>
              <a:defRPr sz="2900" b="1">
                <a:solidFill>
                  <a:srgbClr val="212121"/>
                </a:solidFill>
                <a:latin typeface="DejaVu Sans"/>
              </a:defRPr>
            </a:pPr>
            <a:r>
              <a:t>Primero, identificar el material.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38900"/>
            <a:ext cx="112776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40500"/>
            <a:ext cx="101600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80"/>
              </a:lnSpc>
              <a:spcAft>
                <a:spcPts val="0"/>
              </a:spcAft>
              <a:defRPr sz="800" b="0">
                <a:solidFill>
                  <a:srgbClr val="777777"/>
                </a:solidFill>
                <a:latin typeface="DejaVu Sans"/>
              </a:defRPr>
            </a:pPr>
            <a:r>
              <a:t>FULLSTACKERS · INTENDENCIA · MVP ACADÉMICO · DATOS FICTICIOS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40500"/>
            <a:ext cx="355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80"/>
              </a:lnSpc>
              <a:spcAft>
                <a:spcPts val="0"/>
              </a:spcAft>
              <a:defRPr sz="800" b="0">
                <a:solidFill>
                  <a:srgbClr val="777777"/>
                </a:solidFill>
                <a:latin typeface="DejaVu Sans"/>
              </a:defRPr>
            </a:pPr>
            <a: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89100"/>
            <a:ext cx="3302000" cy="10274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Aft>
                <a:spcPts val="0"/>
              </a:spcAft>
              <a:defRPr sz="1800" b="1">
                <a:solidFill>
                  <a:srgbClr val="212121"/>
                </a:solidFill>
                <a:latin typeface="DejaVu Sans"/>
              </a:defRPr>
            </a:pPr>
            <a:r>
              <a:t>Desengrasante</a:t>
            </a:r>
          </a:p>
          <a:p>
            <a:pPr>
              <a:lnSpc>
                <a:spcPts val="2430"/>
              </a:lnSpc>
              <a:spcAft>
                <a:spcPts val="0"/>
              </a:spcAft>
              <a:defRPr sz="1800" b="1">
                <a:solidFill>
                  <a:srgbClr val="212121"/>
                </a:solidFill>
                <a:latin typeface="DejaVu Sans"/>
              </a:defRPr>
            </a:pPr>
            <a:r>
              <a:t>industrial, guardado en</a:t>
            </a:r>
          </a:p>
          <a:p>
            <a:pPr>
              <a:lnSpc>
                <a:spcPts val="2430"/>
              </a:lnSpc>
              <a:spcAft>
                <a:spcPts val="0"/>
              </a:spcAft>
              <a:defRPr sz="1800" b="1">
                <a:solidFill>
                  <a:srgbClr val="212121"/>
                </a:solidFill>
                <a:latin typeface="DejaVu Sans"/>
              </a:defRPr>
            </a:pPr>
            <a:r>
              <a:t>Puerta 3.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97200"/>
            <a:ext cx="63500" cy="63500"/>
          </a:xfrm>
          <a:prstGeom prst="rect">
            <a:avLst/>
          </a:prstGeom>
          <a:solidFill>
            <a:srgbClr val="E72D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700" y="2895600"/>
            <a:ext cx="3022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777777"/>
                </a:solidFill>
                <a:latin typeface="DejaVu Sans"/>
              </a:defRPr>
            </a:pPr>
            <a:r>
              <a:t>Código y nombre únicos.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10000"/>
            <a:ext cx="63500" cy="63500"/>
          </a:xfrm>
          <a:prstGeom prst="rect">
            <a:avLst/>
          </a:prstGeom>
          <a:solidFill>
            <a:srgbClr val="E72D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700" y="3708400"/>
            <a:ext cx="3022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777777"/>
                </a:solidFill>
                <a:latin typeface="DejaVu Sans"/>
              </a:defRPr>
            </a:pPr>
            <a:r>
              <a:t>Categoría y unidad obligatorias.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622800"/>
            <a:ext cx="63500" cy="63500"/>
          </a:xfrm>
          <a:prstGeom prst="rect">
            <a:avLst/>
          </a:prstGeom>
          <a:solidFill>
            <a:srgbClr val="E72D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700" y="4521200"/>
            <a:ext cx="3022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777777"/>
                </a:solidFill>
                <a:latin typeface="DejaVu Sans"/>
              </a:defRPr>
            </a:pPr>
            <a:r>
              <a:t>El alta comienza con stock cero.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02100" y="1397000"/>
            <a:ext cx="7117080" cy="4965700"/>
          </a:xfrm>
          <a:prstGeom prst="roundRect">
            <a:avLst>
              <a:gd name="adj" fmla="val 8000"/>
            </a:avLst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3-al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200" y="1435100"/>
            <a:ext cx="7040880" cy="4889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9400"/>
            <a:ext cx="96520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00" b="1">
                <a:solidFill>
                  <a:srgbClr val="E72D07"/>
                </a:solidFill>
                <a:latin typeface="DejaVu Sans"/>
              </a:defRPr>
            </a:pPr>
            <a:r>
              <a:t>EASYSTOCK / HU-03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62000"/>
            <a:ext cx="11303000" cy="5988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5"/>
              </a:lnSpc>
              <a:spcAft>
                <a:spcPts val="0"/>
              </a:spcAft>
              <a:defRPr sz="2900" b="1">
                <a:solidFill>
                  <a:srgbClr val="212121"/>
                </a:solidFill>
                <a:latin typeface="DejaVu Sans"/>
              </a:defRPr>
            </a:pPr>
            <a:r>
              <a:t>Definir los niveles de referencia.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38900"/>
            <a:ext cx="112776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40500"/>
            <a:ext cx="101600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80"/>
              </a:lnSpc>
              <a:spcAft>
                <a:spcPts val="0"/>
              </a:spcAft>
              <a:defRPr sz="800" b="0">
                <a:solidFill>
                  <a:srgbClr val="777777"/>
                </a:solidFill>
                <a:latin typeface="DejaVu Sans"/>
              </a:defRPr>
            </a:pPr>
            <a:r>
              <a:t>FULLSTACKERS · INTENDENCIA · MVP ACADÉMICO · DATOS FICTICIOS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40500"/>
            <a:ext cx="355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80"/>
              </a:lnSpc>
              <a:spcAft>
                <a:spcPts val="0"/>
              </a:spcAft>
              <a:defRPr sz="800" b="0">
                <a:solidFill>
                  <a:srgbClr val="777777"/>
                </a:solidFill>
                <a:latin typeface="DejaVu Sans"/>
              </a:defRPr>
            </a:pPr>
            <a: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89100"/>
            <a:ext cx="3302000" cy="7188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Aft>
                <a:spcPts val="0"/>
              </a:spcAft>
              <a:defRPr sz="1800" b="1">
                <a:solidFill>
                  <a:srgbClr val="212121"/>
                </a:solidFill>
                <a:latin typeface="DejaVu Sans"/>
              </a:defRPr>
            </a:pPr>
            <a:r>
              <a:t>Umbrales editables por</a:t>
            </a:r>
          </a:p>
          <a:p>
            <a:pPr>
              <a:lnSpc>
                <a:spcPts val="2430"/>
              </a:lnSpc>
              <a:spcAft>
                <a:spcPts val="0"/>
              </a:spcAft>
              <a:defRPr sz="1800" b="1">
                <a:solidFill>
                  <a:srgbClr val="212121"/>
                </a:solidFill>
                <a:latin typeface="DejaVu Sans"/>
              </a:defRPr>
            </a:pPr>
            <a:r>
              <a:t>el Administrador.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97200"/>
            <a:ext cx="63500" cy="63500"/>
          </a:xfrm>
          <a:prstGeom prst="rect">
            <a:avLst/>
          </a:prstGeom>
          <a:solidFill>
            <a:srgbClr val="E72D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700" y="2895600"/>
            <a:ext cx="3022600" cy="513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777777"/>
                </a:solidFill>
                <a:latin typeface="DejaVu Sans"/>
              </a:defRPr>
            </a:pPr>
            <a:r>
              <a:t>Valores positivos; mínimo menor al</a:t>
            </a:r>
          </a:p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777777"/>
                </a:solidFill>
                <a:latin typeface="DejaVu Sans"/>
              </a:defRPr>
            </a:pPr>
            <a:r>
              <a:t>máximo.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10000"/>
            <a:ext cx="63500" cy="63500"/>
          </a:xfrm>
          <a:prstGeom prst="rect">
            <a:avLst/>
          </a:prstGeom>
          <a:solidFill>
            <a:srgbClr val="E72D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700" y="3708400"/>
            <a:ext cx="3022600" cy="513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777777"/>
                </a:solidFill>
                <a:latin typeface="DejaVu Sans"/>
              </a:defRPr>
            </a:pPr>
            <a:r>
              <a:t>Fecha y usuario guardados</a:t>
            </a:r>
          </a:p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777777"/>
                </a:solidFill>
                <a:latin typeface="DejaVu Sans"/>
              </a:defRPr>
            </a:pPr>
            <a:r>
              <a:t>internamente.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622800"/>
            <a:ext cx="63500" cy="63500"/>
          </a:xfrm>
          <a:prstGeom prst="rect">
            <a:avLst/>
          </a:prstGeom>
          <a:solidFill>
            <a:srgbClr val="E72D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700" y="4521200"/>
            <a:ext cx="3022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777777"/>
                </a:solidFill>
                <a:latin typeface="DejaVu Sans"/>
              </a:defRPr>
            </a:pPr>
            <a:r>
              <a:t>Las alertas pertenecen a la Versión 2.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02100" y="1397000"/>
            <a:ext cx="7117080" cy="4965700"/>
          </a:xfrm>
          <a:prstGeom prst="roundRect">
            <a:avLst>
              <a:gd name="adj" fmla="val 8000"/>
            </a:avLst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4-umbra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200" y="1435100"/>
            <a:ext cx="7040880" cy="4889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9400"/>
            <a:ext cx="96520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00" b="1">
                <a:solidFill>
                  <a:srgbClr val="E72D07"/>
                </a:solidFill>
                <a:latin typeface="DejaVu Sans"/>
              </a:defRPr>
            </a:pPr>
            <a:r>
              <a:t>EASYSTOCK / HU-06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62000"/>
            <a:ext cx="11303000" cy="5988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5"/>
              </a:lnSpc>
              <a:spcAft>
                <a:spcPts val="0"/>
              </a:spcAft>
              <a:defRPr sz="2900" b="1">
                <a:solidFill>
                  <a:srgbClr val="212121"/>
                </a:solidFill>
                <a:latin typeface="DejaVu Sans"/>
              </a:defRPr>
            </a:pPr>
            <a:r>
              <a:t>Registrar lo que llega al depósito.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38900"/>
            <a:ext cx="112776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40500"/>
            <a:ext cx="101600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80"/>
              </a:lnSpc>
              <a:spcAft>
                <a:spcPts val="0"/>
              </a:spcAft>
              <a:defRPr sz="800" b="0">
                <a:solidFill>
                  <a:srgbClr val="777777"/>
                </a:solidFill>
                <a:latin typeface="DejaVu Sans"/>
              </a:defRPr>
            </a:pPr>
            <a:r>
              <a:t>FULLSTACKERS · INTENDENCIA · MVP ACADÉMICO · DATOS FICTICIOS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40500"/>
            <a:ext cx="355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80"/>
              </a:lnSpc>
              <a:spcAft>
                <a:spcPts val="0"/>
              </a:spcAft>
              <a:defRPr sz="800" b="0">
                <a:solidFill>
                  <a:srgbClr val="777777"/>
                </a:solidFill>
                <a:latin typeface="DejaVu Sans"/>
              </a:defRPr>
            </a:pPr>
            <a: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89100"/>
            <a:ext cx="3302000" cy="7188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Aft>
                <a:spcPts val="0"/>
              </a:spcAft>
              <a:defRPr sz="1800" b="1">
                <a:solidFill>
                  <a:srgbClr val="212121"/>
                </a:solidFill>
                <a:latin typeface="DejaVu Sans"/>
              </a:defRPr>
            </a:pPr>
            <a:r>
              <a:t>Una recepción de 10</a:t>
            </a:r>
          </a:p>
          <a:p>
            <a:pPr>
              <a:lnSpc>
                <a:spcPts val="2430"/>
              </a:lnSpc>
              <a:spcAft>
                <a:spcPts val="0"/>
              </a:spcAft>
              <a:defRPr sz="1800" b="1">
                <a:solidFill>
                  <a:srgbClr val="212121"/>
                </a:solidFill>
                <a:latin typeface="DejaVu Sans"/>
              </a:defRPr>
            </a:pPr>
            <a:r>
              <a:t>litros inicia el ciclo.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97200"/>
            <a:ext cx="63500" cy="63500"/>
          </a:xfrm>
          <a:prstGeom prst="rect">
            <a:avLst/>
          </a:prstGeom>
          <a:solidFill>
            <a:srgbClr val="E72D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700" y="2895600"/>
            <a:ext cx="3022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777777"/>
                </a:solidFill>
                <a:latin typeface="DejaVu Sans"/>
              </a:defRPr>
            </a:pPr>
            <a:r>
              <a:t>Referencia: Remito DEMO-001.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10000"/>
            <a:ext cx="63500" cy="63500"/>
          </a:xfrm>
          <a:prstGeom prst="rect">
            <a:avLst/>
          </a:prstGeom>
          <a:solidFill>
            <a:srgbClr val="E72D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700" y="3708400"/>
            <a:ext cx="3022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777777"/>
                </a:solidFill>
                <a:latin typeface="DejaVu Sans"/>
              </a:defRPr>
            </a:pPr>
            <a:r>
              <a:t>Usuario y fecha automáticos.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622800"/>
            <a:ext cx="63500" cy="63500"/>
          </a:xfrm>
          <a:prstGeom prst="rect">
            <a:avLst/>
          </a:prstGeom>
          <a:solidFill>
            <a:srgbClr val="E72D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700" y="4521200"/>
            <a:ext cx="3022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777777"/>
                </a:solidFill>
                <a:latin typeface="DejaVu Sans"/>
              </a:defRPr>
            </a:pPr>
            <a:r>
              <a:t>El stock pasa de 0 a 10 litros.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02100" y="1397000"/>
            <a:ext cx="7117080" cy="4965700"/>
          </a:xfrm>
          <a:prstGeom prst="roundRect">
            <a:avLst>
              <a:gd name="adj" fmla="val 8000"/>
            </a:avLst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5-entra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200" y="1435100"/>
            <a:ext cx="7040880" cy="4889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9400"/>
            <a:ext cx="96520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00" b="1">
                <a:solidFill>
                  <a:srgbClr val="E72D07"/>
                </a:solidFill>
                <a:latin typeface="DejaVu Sans"/>
              </a:defRPr>
            </a:pPr>
            <a:r>
              <a:t>EASYSTOCK / HU-04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62000"/>
            <a:ext cx="11303000" cy="5988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5"/>
              </a:lnSpc>
              <a:spcAft>
                <a:spcPts val="0"/>
              </a:spcAft>
              <a:defRPr sz="2900" b="1">
                <a:solidFill>
                  <a:srgbClr val="212121"/>
                </a:solidFill>
                <a:latin typeface="DejaVu Sans"/>
              </a:defRPr>
            </a:pPr>
            <a:r>
              <a:t>Encontrar sin recorrer el pañol.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38900"/>
            <a:ext cx="112776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40500"/>
            <a:ext cx="101600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80"/>
              </a:lnSpc>
              <a:spcAft>
                <a:spcPts val="0"/>
              </a:spcAft>
              <a:defRPr sz="800" b="0">
                <a:solidFill>
                  <a:srgbClr val="777777"/>
                </a:solidFill>
                <a:latin typeface="DejaVu Sans"/>
              </a:defRPr>
            </a:pPr>
            <a:r>
              <a:t>FULLSTACKERS · INTENDENCIA · MVP ACADÉMICO · DATOS FICTICIOS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40500"/>
            <a:ext cx="355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80"/>
              </a:lnSpc>
              <a:spcAft>
                <a:spcPts val="0"/>
              </a:spcAft>
              <a:defRPr sz="800" b="0">
                <a:solidFill>
                  <a:srgbClr val="777777"/>
                </a:solidFill>
                <a:latin typeface="DejaVu Sans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89100"/>
            <a:ext cx="3302000" cy="10274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Aft>
                <a:spcPts val="0"/>
              </a:spcAft>
              <a:defRPr sz="1800" b="1">
                <a:solidFill>
                  <a:srgbClr val="212121"/>
                </a:solidFill>
                <a:latin typeface="DejaVu Sans"/>
              </a:defRPr>
            </a:pPr>
            <a:r>
              <a:t>Nombre, categoría y</a:t>
            </a:r>
          </a:p>
          <a:p>
            <a:pPr>
              <a:lnSpc>
                <a:spcPts val="2430"/>
              </a:lnSpc>
              <a:spcAft>
                <a:spcPts val="0"/>
              </a:spcAft>
              <a:defRPr sz="1800" b="1">
                <a:solidFill>
                  <a:srgbClr val="212121"/>
                </a:solidFill>
                <a:latin typeface="DejaVu Sans"/>
              </a:defRPr>
            </a:pPr>
            <a:r>
              <a:t>ubicación se pueden</a:t>
            </a:r>
          </a:p>
          <a:p>
            <a:pPr>
              <a:lnSpc>
                <a:spcPts val="2430"/>
              </a:lnSpc>
              <a:spcAft>
                <a:spcPts val="0"/>
              </a:spcAft>
              <a:defRPr sz="1800" b="1">
                <a:solidFill>
                  <a:srgbClr val="212121"/>
                </a:solidFill>
                <a:latin typeface="DejaVu Sans"/>
              </a:defRPr>
            </a:pPr>
            <a:r>
              <a:t>combinar.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97200"/>
            <a:ext cx="63500" cy="63500"/>
          </a:xfrm>
          <a:prstGeom prst="rect">
            <a:avLst/>
          </a:prstGeom>
          <a:solidFill>
            <a:srgbClr val="E72D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700" y="2895600"/>
            <a:ext cx="3022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777777"/>
                </a:solidFill>
                <a:latin typeface="DejaVu Sans"/>
              </a:defRPr>
            </a:pPr>
            <a:r>
              <a:t>Búsqueda parcial de texto.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10000"/>
            <a:ext cx="63500" cy="63500"/>
          </a:xfrm>
          <a:prstGeom prst="rect">
            <a:avLst/>
          </a:prstGeom>
          <a:solidFill>
            <a:srgbClr val="E72D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700" y="3708400"/>
            <a:ext cx="3022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777777"/>
                </a:solidFill>
                <a:latin typeface="DejaVu Sans"/>
              </a:defRPr>
            </a:pPr>
            <a:r>
              <a:t>Cantidad y unidad visibles.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622800"/>
            <a:ext cx="63500" cy="63500"/>
          </a:xfrm>
          <a:prstGeom prst="rect">
            <a:avLst/>
          </a:prstGeom>
          <a:solidFill>
            <a:srgbClr val="E72D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700" y="4521200"/>
            <a:ext cx="3022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777777"/>
                </a:solidFill>
                <a:latin typeface="DejaVu Sans"/>
              </a:defRPr>
            </a:pPr>
            <a:r>
              <a:t>Actualizar consulta el saldo vigente.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02100" y="1397000"/>
            <a:ext cx="7117080" cy="4965700"/>
          </a:xfrm>
          <a:prstGeom prst="roundRect">
            <a:avLst>
              <a:gd name="adj" fmla="val 8000"/>
            </a:avLst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6-busque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200" y="1435100"/>
            <a:ext cx="7040880" cy="4889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9400"/>
            <a:ext cx="96520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00" b="1">
                <a:solidFill>
                  <a:srgbClr val="E72D07"/>
                </a:solidFill>
                <a:latin typeface="DejaVu Sans"/>
              </a:defRPr>
            </a:pPr>
            <a:r>
              <a:t>EASYSTOCK / HU-05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62000"/>
            <a:ext cx="11303000" cy="5988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5"/>
              </a:lnSpc>
              <a:spcAft>
                <a:spcPts val="0"/>
              </a:spcAft>
              <a:defRPr sz="2900" b="1">
                <a:solidFill>
                  <a:srgbClr val="212121"/>
                </a:solidFill>
                <a:latin typeface="DejaVu Sans"/>
              </a:defRPr>
            </a:pPr>
            <a:r>
              <a:t>Un retiro nunca puede dejar stock negativo.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38900"/>
            <a:ext cx="112776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40500"/>
            <a:ext cx="101600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80"/>
              </a:lnSpc>
              <a:spcAft>
                <a:spcPts val="0"/>
              </a:spcAft>
              <a:defRPr sz="800" b="0">
                <a:solidFill>
                  <a:srgbClr val="777777"/>
                </a:solidFill>
                <a:latin typeface="DejaVu Sans"/>
              </a:defRPr>
            </a:pPr>
            <a:r>
              <a:t>FULLSTACKERS · INTENDENCIA · MVP ACADÉMICO · DATOS FICTICIOS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40500"/>
            <a:ext cx="355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80"/>
              </a:lnSpc>
              <a:spcAft>
                <a:spcPts val="0"/>
              </a:spcAft>
              <a:defRPr sz="800" b="0">
                <a:solidFill>
                  <a:srgbClr val="777777"/>
                </a:solidFill>
                <a:latin typeface="DejaVu Sans"/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89100"/>
            <a:ext cx="3302000" cy="7188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Aft>
                <a:spcPts val="0"/>
              </a:spcAft>
              <a:defRPr sz="1800" b="1">
                <a:solidFill>
                  <a:srgbClr val="212121"/>
                </a:solidFill>
                <a:latin typeface="DejaVu Sans"/>
              </a:defRPr>
            </a:pPr>
            <a:r>
              <a:t>12 litros solicitados. Solo</a:t>
            </a:r>
          </a:p>
          <a:p>
            <a:pPr>
              <a:lnSpc>
                <a:spcPts val="2430"/>
              </a:lnSpc>
              <a:spcAft>
                <a:spcPts val="0"/>
              </a:spcAft>
              <a:defRPr sz="1800" b="1">
                <a:solidFill>
                  <a:srgbClr val="212121"/>
                </a:solidFill>
                <a:latin typeface="DejaVu Sans"/>
              </a:defRPr>
            </a:pPr>
            <a:r>
              <a:t>10 disponibles.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97200"/>
            <a:ext cx="63500" cy="63500"/>
          </a:xfrm>
          <a:prstGeom prst="rect">
            <a:avLst/>
          </a:prstGeom>
          <a:solidFill>
            <a:srgbClr val="E72D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700" y="2895600"/>
            <a:ext cx="3022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777777"/>
                </a:solidFill>
                <a:latin typeface="DejaVu Sans"/>
              </a:defRPr>
            </a:pPr>
            <a:r>
              <a:t>El sistema informa stock insuficiente.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10000"/>
            <a:ext cx="63500" cy="63500"/>
          </a:xfrm>
          <a:prstGeom prst="rect">
            <a:avLst/>
          </a:prstGeom>
          <a:solidFill>
            <a:srgbClr val="E72D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700" y="3708400"/>
            <a:ext cx="3022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777777"/>
                </a:solidFill>
                <a:latin typeface="DejaVu Sans"/>
              </a:defRPr>
            </a:pPr>
            <a:r>
              <a:t>La salida no crea un movimiento.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622800"/>
            <a:ext cx="63500" cy="63500"/>
          </a:xfrm>
          <a:prstGeom prst="rect">
            <a:avLst/>
          </a:prstGeom>
          <a:solidFill>
            <a:srgbClr val="E72D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700" y="4521200"/>
            <a:ext cx="3022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777777"/>
                </a:solidFill>
                <a:latin typeface="DejaVu Sans"/>
              </a:defRPr>
            </a:pPr>
            <a:r>
              <a:t>El saldo permanece intacto.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02100" y="1397000"/>
            <a:ext cx="7117080" cy="4965700"/>
          </a:xfrm>
          <a:prstGeom prst="roundRect">
            <a:avLst>
              <a:gd name="adj" fmla="val 8000"/>
            </a:avLst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7-stock-insufici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200" y="1435100"/>
            <a:ext cx="7040880" cy="4889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9400"/>
            <a:ext cx="96520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00" b="1">
                <a:solidFill>
                  <a:srgbClr val="E72D07"/>
                </a:solidFill>
                <a:latin typeface="DejaVu Sans"/>
              </a:defRPr>
            </a:pPr>
            <a:r>
              <a:t>EASYSTOCK / HU-05 / RESULTADO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62000"/>
            <a:ext cx="11303000" cy="5988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5"/>
              </a:lnSpc>
              <a:spcAft>
                <a:spcPts val="0"/>
              </a:spcAft>
              <a:defRPr sz="2900" b="1">
                <a:solidFill>
                  <a:srgbClr val="212121"/>
                </a:solidFill>
                <a:latin typeface="DejaVu Sans"/>
              </a:defRPr>
            </a:pPr>
            <a:r>
              <a:t>Un consumo registrado, un saldo comprobable.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38900"/>
            <a:ext cx="112776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40500"/>
            <a:ext cx="101600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80"/>
              </a:lnSpc>
              <a:spcAft>
                <a:spcPts val="0"/>
              </a:spcAft>
              <a:defRPr sz="800" b="0">
                <a:solidFill>
                  <a:srgbClr val="777777"/>
                </a:solidFill>
                <a:latin typeface="DejaVu Sans"/>
              </a:defRPr>
            </a:pPr>
            <a:r>
              <a:t>FULLSTACKERS · INTENDENCIA · MVP ACADÉMICO · DATOS FICTICIOS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40500"/>
            <a:ext cx="355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80"/>
              </a:lnSpc>
              <a:spcAft>
                <a:spcPts val="0"/>
              </a:spcAft>
              <a:defRPr sz="800" b="0">
                <a:solidFill>
                  <a:srgbClr val="777777"/>
                </a:solidFill>
                <a:latin typeface="DejaVu Sans"/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89100"/>
            <a:ext cx="3302000" cy="7188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Aft>
                <a:spcPts val="0"/>
              </a:spcAft>
              <a:defRPr sz="1800" b="1">
                <a:solidFill>
                  <a:srgbClr val="212121"/>
                </a:solidFill>
                <a:latin typeface="DejaVu Sans"/>
              </a:defRPr>
            </a:pPr>
            <a:r>
              <a:t>10 − 2,5 = 7,5 litros</a:t>
            </a:r>
          </a:p>
          <a:p>
            <a:pPr>
              <a:lnSpc>
                <a:spcPts val="2430"/>
              </a:lnSpc>
              <a:spcAft>
                <a:spcPts val="0"/>
              </a:spcAft>
              <a:defRPr sz="1800" b="1">
                <a:solidFill>
                  <a:srgbClr val="212121"/>
                </a:solidFill>
                <a:latin typeface="DejaVu Sans"/>
              </a:defRPr>
            </a:pPr>
            <a:r>
              <a:t>disponibles.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97200"/>
            <a:ext cx="63500" cy="63500"/>
          </a:xfrm>
          <a:prstGeom prst="rect">
            <a:avLst/>
          </a:prstGeom>
          <a:solidFill>
            <a:srgbClr val="E72D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700" y="2895600"/>
            <a:ext cx="3022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777777"/>
                </a:solidFill>
                <a:latin typeface="DejaVu Sans"/>
              </a:defRPr>
            </a:pPr>
            <a:r>
              <a:t>Destino: sector Molino.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10000"/>
            <a:ext cx="63500" cy="63500"/>
          </a:xfrm>
          <a:prstGeom prst="rect">
            <a:avLst/>
          </a:prstGeom>
          <a:solidFill>
            <a:srgbClr val="E72D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700" y="3708400"/>
            <a:ext cx="3022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777777"/>
                </a:solidFill>
                <a:latin typeface="DejaVu Sans"/>
              </a:defRPr>
            </a:pPr>
            <a:r>
              <a:t>Responsable: Operario demo.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622800"/>
            <a:ext cx="63500" cy="63500"/>
          </a:xfrm>
          <a:prstGeom prst="rect">
            <a:avLst/>
          </a:prstGeom>
          <a:solidFill>
            <a:srgbClr val="E72D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700" y="4521200"/>
            <a:ext cx="3022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777777"/>
                </a:solidFill>
                <a:latin typeface="DejaVu Sans"/>
              </a:defRPr>
            </a:pPr>
            <a:r>
              <a:t>Saldo confirmado en pantalla y SQL.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02100" y="1397000"/>
            <a:ext cx="7117080" cy="4965700"/>
          </a:xfrm>
          <a:prstGeom prst="roundRect">
            <a:avLst>
              <a:gd name="adj" fmla="val 8000"/>
            </a:avLst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9-resulta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200" y="1435100"/>
            <a:ext cx="7040880" cy="4889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9400"/>
            <a:ext cx="96520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00" b="1">
                <a:solidFill>
                  <a:srgbClr val="E72D07"/>
                </a:solidFill>
                <a:latin typeface="DejaVu Sans"/>
              </a:defRPr>
            </a:pPr>
            <a:r>
              <a:t>EASYSTOCK / VALIDACIÓN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62000"/>
            <a:ext cx="11303000" cy="5988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5"/>
              </a:lnSpc>
              <a:spcAft>
                <a:spcPts val="0"/>
              </a:spcAft>
              <a:defRPr sz="2900" b="1">
                <a:solidFill>
                  <a:srgbClr val="212121"/>
                </a:solidFill>
                <a:latin typeface="DejaVu Sans"/>
              </a:defRPr>
            </a:pPr>
            <a:r>
              <a:t>Evidencias ejecutadas en esta entrega.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38900"/>
            <a:ext cx="112776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40500"/>
            <a:ext cx="101600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80"/>
              </a:lnSpc>
              <a:spcAft>
                <a:spcPts val="0"/>
              </a:spcAft>
              <a:defRPr sz="800" b="0">
                <a:solidFill>
                  <a:srgbClr val="777777"/>
                </a:solidFill>
                <a:latin typeface="DejaVu Sans"/>
              </a:defRPr>
            </a:pPr>
            <a:r>
              <a:t>FULLSTACKERS · INTENDENCIA · MVP ACADÉMICO · DATOS FICTICIOS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40500"/>
            <a:ext cx="355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80"/>
              </a:lnSpc>
              <a:spcAft>
                <a:spcPts val="0"/>
              </a:spcAft>
              <a:defRPr sz="800" b="0">
                <a:solidFill>
                  <a:srgbClr val="777777"/>
                </a:solidFill>
                <a:latin typeface="DejaVu Sans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39900"/>
            <a:ext cx="3606800" cy="1676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6600" y="1866900"/>
            <a:ext cx="3048000" cy="8902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6210"/>
              </a:lnSpc>
              <a:spcAft>
                <a:spcPts val="0"/>
              </a:spcAft>
              <a:defRPr sz="4600" b="1">
                <a:solidFill>
                  <a:srgbClr val="E72D07"/>
                </a:solidFill>
                <a:latin typeface="DejaVu Sans"/>
              </a:defRPr>
            </a:pPr>
            <a:r>
              <a:t>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600" y="2781300"/>
            <a:ext cx="31115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777777"/>
                </a:solidFill>
                <a:latin typeface="DejaVu Sans"/>
              </a:defRPr>
            </a:pPr>
            <a:r>
              <a:t>pruebas unitarias e integrales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2600" y="1739900"/>
            <a:ext cx="3606800" cy="1676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866900"/>
            <a:ext cx="3048000" cy="8902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6210"/>
              </a:lnSpc>
              <a:spcAft>
                <a:spcPts val="0"/>
              </a:spcAft>
              <a:defRPr sz="4600" b="1">
                <a:solidFill>
                  <a:srgbClr val="E72D07"/>
                </a:solidFill>
                <a:latin typeface="DejaVu Sans"/>
              </a:defRPr>
            </a:pPr>
            <a:r>
              <a:t>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781300"/>
            <a:ext cx="31115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777777"/>
                </a:solidFill>
                <a:latin typeface="DejaVu Sans"/>
              </a:defRPr>
            </a:pPr>
            <a:r>
              <a:t>verificaciones del recorrido real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8000" y="1739900"/>
            <a:ext cx="3606800" cy="1676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07400" y="1866900"/>
            <a:ext cx="3048000" cy="8902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6210"/>
              </a:lnSpc>
              <a:spcAft>
                <a:spcPts val="0"/>
              </a:spcAft>
              <a:defRPr sz="4600" b="1">
                <a:solidFill>
                  <a:srgbClr val="E72D07"/>
                </a:solidFill>
                <a:latin typeface="DejaVu Sans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7400" y="2781300"/>
            <a:ext cx="31115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777777"/>
                </a:solidFill>
                <a:latin typeface="DejaVu Sans"/>
              </a:defRPr>
            </a:pPr>
            <a:r>
              <a:t>fallos en las ejecuciones finales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5300" y="3810000"/>
            <a:ext cx="32385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1">
                <a:solidFill>
                  <a:srgbClr val="212121"/>
                </a:solidFill>
                <a:latin typeface="DejaVu Sans"/>
              </a:defRPr>
            </a:pPr>
            <a:r>
              <a:t>Reglas de negocio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62400" y="3810000"/>
            <a:ext cx="7721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777777"/>
                </a:solidFill>
                <a:latin typeface="DejaVu Sans"/>
              </a:defRPr>
            </a:pPr>
            <a:r>
              <a:t>Duplicados, cantidades y umbrales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5300" y="4305300"/>
            <a:ext cx="32385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1">
                <a:solidFill>
                  <a:srgbClr val="212121"/>
                </a:solidFill>
                <a:latin typeface="DejaVu Sans"/>
              </a:defRPr>
            </a:pPr>
            <a:r>
              <a:t>Integridad del stock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62400" y="4305300"/>
            <a:ext cx="7721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777777"/>
                </a:solidFill>
                <a:latin typeface="DejaVu Sans"/>
              </a:defRPr>
            </a:pPr>
            <a:r>
              <a:t>Stock insuficiente y retiros concurrentes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300" y="4800600"/>
            <a:ext cx="32385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1">
                <a:solidFill>
                  <a:srgbClr val="212121"/>
                </a:solidFill>
                <a:latin typeface="DejaVu Sans"/>
              </a:defRPr>
            </a:pPr>
            <a:r>
              <a:t>Acceso y persistencia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62400" y="4800600"/>
            <a:ext cx="7721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777777"/>
                </a:solidFill>
                <a:latin typeface="DejaVu Sans"/>
              </a:defRPr>
            </a:pPr>
            <a:r>
              <a:t>Roles, CSRF, reinicio y reenvío de formularios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5300" y="5295900"/>
            <a:ext cx="32385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1">
                <a:solidFill>
                  <a:srgbClr val="212121"/>
                </a:solidFill>
                <a:latin typeface="DejaVu Sans"/>
              </a:defRPr>
            </a:pPr>
            <a:r>
              <a:t>Demo funcional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62400" y="5295900"/>
            <a:ext cx="7721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777777"/>
                </a:solidFill>
                <a:latin typeface="DejaVu Sans"/>
              </a:defRPr>
            </a:pPr>
            <a:r>
              <a:t>Navegación real en Chromium y comprobación SQL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956300"/>
            <a:ext cx="11150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00" b="0">
                <a:solidFill>
                  <a:srgbClr val="E72D07"/>
                </a:solidFill>
                <a:latin typeface="DejaVu Sans"/>
              </a:defRPr>
            </a:pPr>
            <a:r>
              <a:t>Registros adjuntos: pruebas-unitarias-integracion.txt y pruebas-navegador.json.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9400"/>
            <a:ext cx="96520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00" b="1">
                <a:solidFill>
                  <a:srgbClr val="E72D07"/>
                </a:solidFill>
                <a:latin typeface="DejaVu Sans"/>
              </a:defRPr>
            </a:pPr>
            <a:r>
              <a:t>EASYSTOCK / ENTREGA Y PRÓXIMOS PASOS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62000"/>
            <a:ext cx="11303000" cy="5988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5"/>
              </a:lnSpc>
              <a:spcAft>
                <a:spcPts val="0"/>
              </a:spcAft>
              <a:defRPr sz="2900" b="1">
                <a:solidFill>
                  <a:srgbClr val="212121"/>
                </a:solidFill>
                <a:latin typeface="DejaVu Sans"/>
              </a:defRPr>
            </a:pPr>
            <a:r>
              <a:t>Versión 1 construida. Validación operativa pendiente.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38900"/>
            <a:ext cx="112776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40500"/>
            <a:ext cx="101600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80"/>
              </a:lnSpc>
              <a:spcAft>
                <a:spcPts val="0"/>
              </a:spcAft>
              <a:defRPr sz="800" b="0">
                <a:solidFill>
                  <a:srgbClr val="777777"/>
                </a:solidFill>
                <a:latin typeface="DejaVu Sans"/>
              </a:defRPr>
            </a:pPr>
            <a:r>
              <a:t>FULLSTACKERS · INTENDENCIA · MVP ACADÉMICO · DATOS FICTICIOS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40500"/>
            <a:ext cx="355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80"/>
              </a:lnSpc>
              <a:spcAft>
                <a:spcPts val="0"/>
              </a:spcAft>
              <a:defRPr sz="800" b="0">
                <a:solidFill>
                  <a:srgbClr val="777777"/>
                </a:solidFill>
                <a:latin typeface="DejaVu Sans"/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39900"/>
            <a:ext cx="5448300" cy="393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59500" y="1739900"/>
            <a:ext cx="5575300" cy="3937000"/>
          </a:xfrm>
          <a:prstGeom prst="roundRect">
            <a:avLst>
              <a:gd name="adj" fmla="val 8000"/>
            </a:avLst>
          </a:prstGeom>
          <a:solidFill>
            <a:srgbClr val="FF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600" y="1968500"/>
            <a:ext cx="48641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65"/>
              </a:lnSpc>
              <a:spcAft>
                <a:spcPts val="0"/>
              </a:spcAft>
              <a:defRPr sz="1900" b="1">
                <a:solidFill>
                  <a:srgbClr val="212121"/>
                </a:solidFill>
                <a:latin typeface="DejaVu Sans"/>
              </a:defRPr>
            </a:pPr>
            <a:r>
              <a:t>Disponible para la exposición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600" y="2616200"/>
            <a:ext cx="4800600" cy="2235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00"/>
              </a:lnSpc>
              <a:spcAft>
                <a:spcPts val="0"/>
              </a:spcAft>
              <a:defRPr sz="1400" b="0">
                <a:solidFill>
                  <a:srgbClr val="777777"/>
                </a:solidFill>
                <a:latin typeface="DejaVu Sans"/>
              </a:defRPr>
            </a:pPr>
            <a:r>
              <a:t>MVP separado en mvp-intendencia/</a:t>
            </a:r>
          </a:p>
          <a:p>
            <a:pPr>
              <a:lnSpc>
                <a:spcPts val="2800"/>
              </a:lnSpc>
              <a:spcAft>
                <a:spcPts val="0"/>
              </a:spcAft>
              <a:defRPr sz="1400" b="0">
                <a:solidFill>
                  <a:srgbClr val="777777"/>
                </a:solidFill>
                <a:latin typeface="DejaVu Sans"/>
              </a:defRPr>
            </a:pPr>
            <a:r>
              <a:t>Diseño de EasyStock del equipo</a:t>
            </a:r>
          </a:p>
          <a:p>
            <a:pPr>
              <a:lnSpc>
                <a:spcPts val="2800"/>
              </a:lnSpc>
              <a:spcAft>
                <a:spcPts val="0"/>
              </a:spcAft>
              <a:defRPr sz="1400" b="0">
                <a:solidFill>
                  <a:srgbClr val="777777"/>
                </a:solidFill>
                <a:latin typeface="DejaVu Sans"/>
              </a:defRPr>
            </a:pPr>
            <a:r>
              <a:t>Manual de usuario y guion de demo</a:t>
            </a:r>
          </a:p>
          <a:p>
            <a:pPr>
              <a:lnSpc>
                <a:spcPts val="2800"/>
              </a:lnSpc>
              <a:spcAft>
                <a:spcPts val="0"/>
              </a:spcAft>
              <a:defRPr sz="1400" b="0">
                <a:solidFill>
                  <a:srgbClr val="777777"/>
                </a:solidFill>
                <a:latin typeface="DejaVu Sans"/>
              </a:defRPr>
            </a:pPr>
            <a:r>
              <a:t>Video MP4 subtitulado, sin audio</a:t>
            </a:r>
          </a:p>
          <a:p>
            <a:pPr>
              <a:lnSpc>
                <a:spcPts val="2800"/>
              </a:lnSpc>
              <a:spcAft>
                <a:spcPts val="0"/>
              </a:spcAft>
              <a:defRPr sz="1400" b="0">
                <a:solidFill>
                  <a:srgbClr val="777777"/>
                </a:solidFill>
                <a:latin typeface="DejaVu Sans"/>
              </a:defRPr>
            </a:pPr>
            <a:r>
              <a:t>Presentación PowerPoint y PDF</a:t>
            </a:r>
          </a:p>
          <a:p>
            <a:pPr>
              <a:lnSpc>
                <a:spcPts val="2800"/>
              </a:lnSpc>
              <a:spcAft>
                <a:spcPts val="0"/>
              </a:spcAft>
              <a:defRPr sz="1400" b="0">
                <a:solidFill>
                  <a:srgbClr val="777777"/>
                </a:solidFill>
                <a:latin typeface="DejaVu Sans"/>
              </a:defRPr>
            </a:pPr>
            <a:r>
              <a:t>Informe y registros de pruebas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1600" y="1968500"/>
            <a:ext cx="49657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65"/>
              </a:lnSpc>
              <a:spcAft>
                <a:spcPts val="0"/>
              </a:spcAft>
              <a:defRPr sz="1900" b="1">
                <a:solidFill>
                  <a:srgbClr val="212121"/>
                </a:solidFill>
                <a:latin typeface="DejaVu Sans"/>
              </a:defRPr>
            </a:pPr>
            <a:r>
              <a:t>Siguiente instancia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1600" y="2616200"/>
            <a:ext cx="4914900" cy="152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00"/>
              </a:lnSpc>
              <a:spcAft>
                <a:spcPts val="0"/>
              </a:spcAft>
              <a:defRPr sz="1400" b="0">
                <a:solidFill>
                  <a:srgbClr val="212121"/>
                </a:solidFill>
                <a:latin typeface="DejaVu Sans"/>
              </a:defRPr>
            </a:pPr>
            <a:r>
              <a:t>Validar roles y ubicaciones con el sector.</a:t>
            </a:r>
          </a:p>
          <a:p>
            <a:pPr>
              <a:lnSpc>
                <a:spcPts val="2800"/>
              </a:lnSpc>
              <a:spcAft>
                <a:spcPts val="0"/>
              </a:spcAft>
              <a:defRPr sz="1400" b="0">
                <a:solidFill>
                  <a:srgbClr val="212121"/>
                </a:solidFill>
                <a:latin typeface="DejaVu Sans"/>
              </a:defRPr>
            </a:pPr>
            <a:r>
              <a:t>Probar el flujo con usuarios reales.</a:t>
            </a:r>
          </a:p>
          <a:p>
            <a:pPr>
              <a:lnSpc>
                <a:spcPts val="2800"/>
              </a:lnSpc>
              <a:spcAft>
                <a:spcPts val="0"/>
              </a:spcAft>
              <a:defRPr sz="1400" b="0">
                <a:solidFill>
                  <a:srgbClr val="212121"/>
                </a:solidFill>
                <a:latin typeface="DejaVu Sans"/>
              </a:defRPr>
            </a:pPr>
            <a:r>
              <a:t>Preparar usuarios, respaldos y despliegue.</a:t>
            </a:r>
          </a:p>
          <a:p>
            <a:pPr>
              <a:lnSpc>
                <a:spcPts val="2800"/>
              </a:lnSpc>
              <a:spcAft>
                <a:spcPts val="0"/>
              </a:spcAft>
              <a:defRPr sz="1400" b="0">
                <a:solidFill>
                  <a:srgbClr val="212121"/>
                </a:solidFill>
                <a:latin typeface="DejaVu Sans"/>
              </a:defRPr>
            </a:pPr>
            <a:r>
              <a:t>Iterar sobre HU-07 y HU-08.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930900"/>
            <a:ext cx="11277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Aft>
                <a:spcPts val="0"/>
              </a:spcAft>
              <a:defRPr sz="1100" b="0">
                <a:solidFill>
                  <a:srgbClr val="E72D07"/>
                </a:solidFill>
                <a:latin typeface="DejaVu Sans"/>
              </a:defRPr>
            </a:pPr>
            <a:r>
              <a:t>Demo adjunta: Demo-MVP.mp4 · Instrucciones reproducibles: README.md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