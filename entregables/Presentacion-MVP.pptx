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producto como implementación académica nueva. Las pantallas son capturas reales del navegador. No se usaron datos corporativos ni se modificó el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PDF describe consumos menores sin registro, insumos guardados sin identificación y diferencias entre stock físico y registrado. Esta entrega implementa el ciclo básico; todavía no mide mejoras en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Etapa 10 del documento define HU-01 a HU-06 como Versión 1 y deja HU-07/HU-08 para una versión futura. Se persisten movimientos sin construir todavía el historial avanzado.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Flask sirve las vistas y aplica la autorización. SQLite almacena usuarios, insumos, cambios de umbral y movimientos. Cantidades en milésimas enteras; BEGIN IMMEDIATE serializa validación y descuento. No se usa almacenamiento de navegador como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las dos cuentas ficticias documentadas. No presentar las cuentas demo como usuarios corporativos. La autorización del servidor devuelve 403 al Operario que solicita el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el video se crea LIM-003, Desengrasante industrial, Limpieza, litro, Puerta 3. La entrada formal cargará las existencias.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demostración cambia mínimo 3/máximo 25 a 4/30. Para unidad se admiten enteros; para litros y kg, tres decimales. No se bloquea una recepción por superar el máximo.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Operario registrar una entrada de 10 litros. La referencia es opcional. Se guarda cantidad y responsable en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Buscar desengrasante, filtrar Limpieza y Puerta 3. Explicar que la aplicación refresca en cada consulta y al confirmar movimientos propios; no implementa actualización push entre dispositivos.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error real. Las pruebas también ejecutan dos retiros simultáneos de 20 litros frente a 24 disponibles; solo uno puede completarse.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Corregir la cantidad a 2,5 litros y confirmar. La verificación independiente en SQLite comprueba una entrada de 10000 milésimas y una salida de 2500 milésimas, ambas del Operario.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resultados pertenecen a esta sesión de implementación, no a la instancia académica anterior. Las pruebas automatizadas no equivalen a aceptación de la organización. Los archivos de salida acompañan la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entrega incluye código, instrucciones, presentación editable y PDF, video y evidencias. El MVP funciona localmente con datos ficticios. Faltan validación por usuarios de la empresa y preparación productiva. No afirmar publicación o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D7EDAA"/>
                </a:solidFill>
                <a:latin typeface="DejaVu Sans"/>
              </a:defRPr>
            </a:pPr>
            <a:r>
              <a:t>INTENDENCIA / VERSIÓN 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345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9EB4A6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9EB4A6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57300"/>
            <a:ext cx="4699000" cy="1358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Aft>
                <a:spcPts val="0"/>
              </a:spcAft>
              <a:defRPr sz="4500" b="1">
                <a:solidFill>
                  <a:srgbClr val="FFFFFF"/>
                </a:solidFill>
                <a:latin typeface="DejaVu Sans"/>
              </a:defRPr>
            </a:pPr>
            <a:r>
              <a:t>El pañol,</a:t>
            </a:r>
          </a:p>
          <a:p>
            <a:pPr>
              <a:lnSpc>
                <a:spcPts val="4950"/>
              </a:lnSpc>
              <a:spcAft>
                <a:spcPts val="0"/>
              </a:spcAft>
              <a:defRPr sz="4500" b="1">
                <a:solidFill>
                  <a:srgbClr val="FFFFFF"/>
                </a:solidFill>
                <a:latin typeface="DejaVu Sans"/>
              </a:defRPr>
            </a:pPr>
            <a:r>
              <a:t>en orden.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946400"/>
            <a:ext cx="43815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C4D7CB"/>
                </a:solidFill>
                <a:latin typeface="DejaVu Sans"/>
              </a:defRPr>
            </a:pPr>
            <a:r>
              <a:t>Sistema satélite para el control de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C4D7CB"/>
                </a:solidFill>
                <a:latin typeface="DejaVu Sans"/>
              </a:defRPr>
            </a:pPr>
            <a:r>
              <a:t>insumos de Intendencia.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600" y="4229100"/>
            <a:ext cx="3378200" cy="444500"/>
          </a:xfrm>
          <a:prstGeom prst="roundRect">
            <a:avLst>
              <a:gd name="adj" fmla="val 8000"/>
            </a:avLst>
          </a:prstGeom>
          <a:solidFill>
            <a:srgbClr val="D7E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43180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22E29"/>
                </a:solidFill>
                <a:latin typeface="DejaVu Sans"/>
              </a:defRPr>
            </a:pPr>
            <a:r>
              <a:t>MVP FUNCIONAL · HU-01 A HU-06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4978400"/>
            <a:ext cx="38100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A5BEAE"/>
                </a:solidFill>
                <a:latin typeface="DejaVu Sans"/>
              </a:defRPr>
            </a:pPr>
            <a:r>
              <a:t>Catálogo, ubicaciones y movimientos en una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A5BEAE"/>
                </a:solidFill>
                <a:latin typeface="DejaVu Sans"/>
              </a:defRPr>
            </a:pPr>
            <a:r>
              <a:t>aplicación web.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8900" y="1270000"/>
            <a:ext cx="6604000" cy="4609394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invent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1308100"/>
            <a:ext cx="6527800" cy="4533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Del retiro informal al registro compartido.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43100"/>
            <a:ext cx="3606800" cy="328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300" y="2222500"/>
            <a:ext cx="2794000" cy="667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Aft>
                <a:spcPts val="0"/>
              </a:spcAft>
              <a:defRPr sz="3300" b="0">
                <a:solidFill>
                  <a:srgbClr val="16746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300" y="2997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1">
                <a:solidFill>
                  <a:srgbClr val="182F2C"/>
                </a:solidFill>
                <a:latin typeface="DejaVu Sans"/>
              </a:defRPr>
            </a:pPr>
            <a:r>
              <a:t>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3619500"/>
            <a:ext cx="29845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Cada ingreso y cada consumo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dejan un registro con usuario,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cantidad y fecha.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2600" y="1943100"/>
            <a:ext cx="3606800" cy="328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4700" y="2222500"/>
            <a:ext cx="2794000" cy="667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Aft>
                <a:spcPts val="0"/>
              </a:spcAft>
              <a:defRPr sz="3300" b="0">
                <a:solidFill>
                  <a:srgbClr val="167460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700" y="2997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1">
                <a:solidFill>
                  <a:srgbClr val="182F2C"/>
                </a:solidFill>
                <a:latin typeface="DejaVu Sans"/>
              </a:defRPr>
            </a:pPr>
            <a:r>
              <a:t>Encontrar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700" y="3619500"/>
            <a:ext cx="2984500" cy="106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La búsqueda reúne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disponibilidad, categoría y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ubicación física en una sola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vista.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943100"/>
            <a:ext cx="3606800" cy="328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0100" y="2222500"/>
            <a:ext cx="2794000" cy="667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Aft>
                <a:spcPts val="0"/>
              </a:spcAft>
              <a:defRPr sz="3300" b="0">
                <a:solidFill>
                  <a:srgbClr val="167460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2997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Aft>
                <a:spcPts val="0"/>
              </a:spcAft>
              <a:defRPr sz="2100" b="1">
                <a:solidFill>
                  <a:srgbClr val="182F2C"/>
                </a:solidFill>
                <a:latin typeface="DejaVu Sans"/>
              </a:defRPr>
            </a:pPr>
            <a:r>
              <a:t>Confiar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619500"/>
            <a:ext cx="2984500" cy="821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Las salidas se validan contra el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saldo y se confirman con una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transacción atómica.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6100"/>
            <a:ext cx="11049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Objetivo: apoyar el control interno. La mejora operativa requiere validación con usuarios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Seis historias, un ciclo completo de inventario.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45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50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HU-01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33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182F2C"/>
                </a:solidFill>
                <a:latin typeface="DejaVu Sans"/>
              </a:defRPr>
            </a:pPr>
            <a:r>
              <a:t>Acceso por 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59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Administrador y Operario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2600" y="17145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200" y="19050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HU-02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00" y="22733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182F2C"/>
                </a:solidFill>
                <a:latin typeface="DejaVu Sans"/>
              </a:defRPr>
            </a:pPr>
            <a:r>
              <a:t>Alta de insumos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27559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Código único y ubicación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17145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600" y="19050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HU-03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22733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182F2C"/>
                </a:solidFill>
                <a:latin typeface="DejaVu Sans"/>
              </a:defRPr>
            </a:pPr>
            <a:r>
              <a:t>Mínimos y máximos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0" y="27559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Configuración autorizada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830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735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HU-04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418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182F2C"/>
                </a:solidFill>
                <a:latin typeface="DejaVu Sans"/>
              </a:defRPr>
            </a:pPr>
            <a:r>
              <a:t>Consulta de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244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Búsqueda y filtros combinados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2600" y="36830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1200" y="38735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HU-05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200" y="42418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182F2C"/>
                </a:solidFill>
                <a:latin typeface="DejaVu Sans"/>
              </a:defRPr>
            </a:pPr>
            <a:r>
              <a:t>Consumo interno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200" y="47244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Salida con sector y validación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0" y="3683000"/>
            <a:ext cx="36068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6600" y="3873500"/>
            <a:ext cx="3124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HU-06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600" y="42418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182F2C"/>
                </a:solidFill>
                <a:latin typeface="DejaVu Sans"/>
              </a:defRPr>
            </a:pPr>
            <a:r>
              <a:t>Recepción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600" y="4724400"/>
            <a:ext cx="3149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Entrada con referencia opcional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80100"/>
            <a:ext cx="11176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Versión 2: alertas visuales HU-07 e historial avanzado HU-08. Sin integración al ERP.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DECISIONES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Simple de ejecutar. Con datos persistentes.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5000"/>
            <a:ext cx="335280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2146300"/>
            <a:ext cx="2857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182F2C"/>
                </a:solidFill>
                <a:latin typeface="DejaVu Sans"/>
              </a:defRPr>
            </a:pPr>
            <a:r>
              <a:t>Navegador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2717800"/>
            <a:ext cx="28448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Interfaz responsive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Formularios en español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1905000"/>
            <a:ext cx="335280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0" y="2146300"/>
            <a:ext cx="2857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182F2C"/>
                </a:solidFill>
                <a:latin typeface="DejaVu Sans"/>
              </a:defRPr>
            </a:pPr>
            <a:r>
              <a:t>Python + 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0" y="2717800"/>
            <a:ext cx="28448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Sesión y permisos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Validaciones de negocio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0" y="1905000"/>
            <a:ext cx="335280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0" y="2146300"/>
            <a:ext cx="2857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182F2C"/>
                </a:solidFill>
                <a:latin typeface="DejaVu Sans"/>
              </a:defRPr>
            </a:pPr>
            <a: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2717800"/>
            <a:ext cx="28448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Usuarios e insumos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Movimientos y umbrales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1600" y="2527300"/>
            <a:ext cx="406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7460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0" y="2527300"/>
            <a:ext cx="406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0"/>
              </a:lnSpc>
              <a:spcAft>
                <a:spcPts val="0"/>
              </a:spcAft>
              <a:defRPr sz="2200" b="0">
                <a:solidFill>
                  <a:srgbClr val="167460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38600"/>
            <a:ext cx="11277600" cy="1701800"/>
          </a:xfrm>
          <a:prstGeom prst="roundRect">
            <a:avLst>
              <a:gd name="adj" fmla="val 8000"/>
            </a:avLst>
          </a:prstGeom>
          <a:solidFill>
            <a:srgbClr val="E9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600" y="4267200"/>
            <a:ext cx="10604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5"/>
              </a:lnSpc>
              <a:spcAft>
                <a:spcPts val="0"/>
              </a:spcAft>
              <a:defRPr sz="1700" b="1">
                <a:solidFill>
                  <a:srgbClr val="182F2C"/>
                </a:solidFill>
                <a:latin typeface="DejaVu Sans"/>
              </a:defRPr>
            </a:pPr>
            <a:r>
              <a:t>Reglas verificadas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600" y="4749800"/>
            <a:ext cx="10414000" cy="581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82F2C"/>
                </a:solidFill>
                <a:latin typeface="DejaVu Sans"/>
              </a:defRPr>
            </a:pPr>
            <a:r>
              <a:t>Contraseñas con hash scrypt · Permisos en servidor · Protección CSRF</a:t>
            </a:r>
          </a:p>
          <a:p>
            <a:pPr>
              <a:lnSpc>
                <a:spcPts val="1890"/>
              </a:lnSpc>
              <a:spcAft>
                <a:spcPts val="0"/>
              </a:spcAft>
              <a:defRPr sz="1400" b="0">
                <a:solidFill>
                  <a:srgbClr val="182F2C"/>
                </a:solidFill>
                <a:latin typeface="DejaVu Sans"/>
              </a:defRPr>
            </a:pPr>
            <a:r>
              <a:t>Stock sin redondeo flotante · Descuento atómico · Reenvíos sin duplicación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HU-01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Cada rol tiene su espacio.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1027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La sesión identifica al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responsable de cada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operación.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Administrador: alta y umbrales.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Operario: búsqueda y movimientos.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Las rutas también verifican permisos.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HU-02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Primero, identificar el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1027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Desengrasante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industrial, guardado en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Puerta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Código y nombre únicos.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Categoría y unidad obligatorias.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El alta comienza con stock cero.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a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HU-03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Definir los niveles de referencia.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Umbrales editables por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el Administrador.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Valores positivos; mínimo menor al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máximo.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Fecha y usuario guardados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internamente.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Las alertas pertenecen a la Versión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umbr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HU-06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Registrar lo que llega al depósito.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Una recepción de 10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litros inicia el ciclo.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Referencia: Remito DEMO-001.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Usuario y fecha automáticos.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El stock pasa de 0 a 10 litros.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-ent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HU-04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Encontrar sin recorrer el pañol.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1027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Nombre, categoría y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ubicación se pueden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combinar.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Búsqueda parcial de texto.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Cantidad y unidad visibles.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Actualizar consulta el saldo vigente.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-busqu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HU-05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Un retiro nunca puede dejar stock negativo.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12 litros solicitados. Solo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10 disponibles.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El sistema informa stock insuficiente.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La salida no crea un movimiento.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El saldo permanece intacto.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-stock-insufici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HU-05 /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Un consumo registrado, un saldo comprobable.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9100"/>
            <a:ext cx="3302000" cy="718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10 − 2,5 = 7,5 litros</a:t>
            </a:r>
          </a:p>
          <a:p>
            <a:pPr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82F2C"/>
                </a:solidFill>
                <a:latin typeface="DejaVu Sans"/>
              </a:defRPr>
            </a:pPr>
            <a:r>
              <a:t>disponibles.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72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956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Destino: sector Molino.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100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7084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Responsable: Operario 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22800"/>
            <a:ext cx="63500" cy="63500"/>
          </a:xfrm>
          <a:prstGeom prst="rect">
            <a:avLst/>
          </a:prstGeom>
          <a:solidFill>
            <a:srgbClr val="16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521200"/>
            <a:ext cx="3022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Saldo confirmado en pantalla y SQL.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2100" y="1397000"/>
            <a:ext cx="7117080" cy="4965700"/>
          </a:xfrm>
          <a:prstGeom prst="roundRect">
            <a:avLst>
              <a:gd name="adj" fmla="val 8000"/>
            </a:avLst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9-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435100"/>
            <a:ext cx="704088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Evidencias ejecutadas en esta entrega.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99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1866900"/>
            <a:ext cx="3048000" cy="890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10"/>
              </a:lnSpc>
              <a:spcAft>
                <a:spcPts val="0"/>
              </a:spcAft>
              <a:defRPr sz="4600" b="1">
                <a:solidFill>
                  <a:srgbClr val="167460"/>
                </a:solidFill>
                <a:latin typeface="DejaVu Sans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7813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pruebas unitarias e integrales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600" y="17399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66900"/>
            <a:ext cx="3048000" cy="890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10"/>
              </a:lnSpc>
              <a:spcAft>
                <a:spcPts val="0"/>
              </a:spcAft>
              <a:defRPr sz="4600" b="1">
                <a:solidFill>
                  <a:srgbClr val="16746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13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verificaciones del recorrido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0" y="1739900"/>
            <a:ext cx="3606800" cy="167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7400" y="1866900"/>
            <a:ext cx="3048000" cy="890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10"/>
              </a:lnSpc>
              <a:spcAft>
                <a:spcPts val="0"/>
              </a:spcAft>
              <a:defRPr sz="4600" b="1">
                <a:solidFill>
                  <a:srgbClr val="167460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400" y="2781300"/>
            <a:ext cx="3111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fallos en las ejecuciones finales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" y="38100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182F2C"/>
                </a:solidFill>
                <a:latin typeface="DejaVu Sans"/>
              </a:defRPr>
            </a:pPr>
            <a:r>
              <a:t>Reglas de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2400" y="38100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Duplicados, cantidades y umbrales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" y="43053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182F2C"/>
                </a:solidFill>
                <a:latin typeface="DejaVu Sans"/>
              </a:defRPr>
            </a:pPr>
            <a:r>
              <a:t>Integridad del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2400" y="43053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Stock insuficiente y retiros concurrentes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" y="48006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182F2C"/>
                </a:solidFill>
                <a:latin typeface="DejaVu Sans"/>
              </a:defRPr>
            </a:pPr>
            <a:r>
              <a:t>Acceso y persistencia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2400" y="48006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Roles, CSRF, reinicio y reenvío de formularios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300" y="5295900"/>
            <a:ext cx="32385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1">
                <a:solidFill>
                  <a:srgbClr val="182F2C"/>
                </a:solidFill>
                <a:latin typeface="DejaVu Sans"/>
              </a:defRPr>
            </a:pPr>
            <a:r>
              <a:t>Demo funcional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400" y="5295900"/>
            <a:ext cx="7721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6E7D78"/>
                </a:solidFill>
                <a:latin typeface="DejaVu Sans"/>
              </a:defRPr>
            </a:pPr>
            <a:r>
              <a:t>Navegación real en Chromium y comprobación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56300"/>
            <a:ext cx="11150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0">
                <a:solidFill>
                  <a:srgbClr val="167460"/>
                </a:solidFill>
                <a:latin typeface="DejaVu Sans"/>
              </a:defRPr>
            </a:pPr>
            <a:r>
              <a:t>Registros adjuntos: pruebas-unitarias-integracion.txt y pruebas-navegador.json.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9400"/>
            <a:ext cx="9652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0"/>
              </a:lnSpc>
              <a:spcAft>
                <a:spcPts val="0"/>
              </a:spcAft>
              <a:defRPr sz="1000" b="1">
                <a:solidFill>
                  <a:srgbClr val="167460"/>
                </a:solidFill>
                <a:latin typeface="DejaVu Sans"/>
              </a:defRPr>
            </a:pPr>
            <a:r>
              <a:t>INTENDENCIA / ENTREGA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2000"/>
            <a:ext cx="11303000" cy="598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15"/>
              </a:lnSpc>
              <a:spcAft>
                <a:spcPts val="0"/>
              </a:spcAft>
              <a:defRPr sz="2900" b="1">
                <a:solidFill>
                  <a:srgbClr val="182F2C"/>
                </a:solidFill>
                <a:latin typeface="DejaVu Sans"/>
              </a:defRPr>
            </a:pPr>
            <a:r>
              <a:t>Versión 1 construida. Validación operativa pendiente.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E2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0500"/>
            <a:ext cx="10160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MOLINOS FLORENCIA · MVP ACADÉMICO · DATOS FICTICIOS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40500"/>
            <a:ext cx="355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80"/>
              </a:lnSpc>
              <a:spcAft>
                <a:spcPts val="0"/>
              </a:spcAft>
              <a:defRPr sz="800" b="0">
                <a:solidFill>
                  <a:srgbClr val="6E7D78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9900"/>
            <a:ext cx="5448300" cy="39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9500" y="1739900"/>
            <a:ext cx="5575300" cy="3937000"/>
          </a:xfrm>
          <a:prstGeom prst="roundRect">
            <a:avLst>
              <a:gd name="adj" fmla="val 8000"/>
            </a:avLst>
          </a:prstGeom>
          <a:solidFill>
            <a:srgbClr val="E9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1968500"/>
            <a:ext cx="4864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Aft>
                <a:spcPts val="0"/>
              </a:spcAft>
              <a:defRPr sz="1900" b="1">
                <a:solidFill>
                  <a:srgbClr val="182F2C"/>
                </a:solidFill>
                <a:latin typeface="DejaVu Sans"/>
              </a:defRPr>
            </a:pPr>
            <a:r>
              <a:t>Disponible para la exposición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2616200"/>
            <a:ext cx="4800600" cy="187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Aplicación ejecutable y código fuente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Manual de usuario y guion de demo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Video MP4 subtitulado, sin audio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Presentación PowerPoint y PDF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6E7D78"/>
                </a:solidFill>
                <a:latin typeface="DejaVu Sans"/>
              </a:defRPr>
            </a:pPr>
            <a:r>
              <a:t>Informe y registros de pruebas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00" y="1968500"/>
            <a:ext cx="49657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5"/>
              </a:lnSpc>
              <a:spcAft>
                <a:spcPts val="0"/>
              </a:spcAft>
              <a:defRPr sz="1900" b="1">
                <a:solidFill>
                  <a:srgbClr val="182F2C"/>
                </a:solidFill>
                <a:latin typeface="DejaVu Sans"/>
              </a:defRPr>
            </a:pPr>
            <a:r>
              <a:t>Siguiente instancia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600" y="2616200"/>
            <a:ext cx="4914900" cy="15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182F2C"/>
                </a:solidFill>
                <a:latin typeface="DejaVu Sans"/>
              </a:defRPr>
            </a:pPr>
            <a:r>
              <a:t>Validar roles y ubicaciones con el sector.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182F2C"/>
                </a:solidFill>
                <a:latin typeface="DejaVu Sans"/>
              </a:defRPr>
            </a:pPr>
            <a:r>
              <a:t>Probar el flujo con usuarios reales.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182F2C"/>
                </a:solidFill>
                <a:latin typeface="DejaVu Sans"/>
              </a:defRPr>
            </a:pPr>
            <a:r>
              <a:t>Preparar usuarios, respaldos y despliegue.</a:t>
            </a:r>
          </a:p>
          <a:p>
            <a:pPr>
              <a:lnSpc>
                <a:spcPts val="2800"/>
              </a:lnSpc>
              <a:spcAft>
                <a:spcPts val="0"/>
              </a:spcAft>
              <a:defRPr sz="1400" b="0">
                <a:solidFill>
                  <a:srgbClr val="182F2C"/>
                </a:solidFill>
                <a:latin typeface="DejaVu Sans"/>
              </a:defRPr>
            </a:pPr>
            <a:r>
              <a:t>Iterar sobre HU-07 y HU-08.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30900"/>
            <a:ext cx="112776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5"/>
              </a:lnSpc>
              <a:spcAft>
                <a:spcPts val="0"/>
              </a:spcAft>
              <a:defRPr sz="1100" b="0">
                <a:solidFill>
                  <a:srgbClr val="167460"/>
                </a:solidFill>
                <a:latin typeface="DejaVu Sans"/>
              </a:defRPr>
            </a:pPr>
            <a:r>
              <a:t>Demo adjunta: Demo-MVP.mp4 · Instrucciones reproducibles: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